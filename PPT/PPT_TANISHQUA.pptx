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6" r:id="rId57"/>
    <p:sldId id="313" r:id="rId58"/>
    <p:sldId id="317" r:id="rId59"/>
    <p:sldId id="318" r:id="rId60"/>
    <p:sldId id="319" r:id="rId61"/>
    <p:sldId id="314" r:id="rId62"/>
    <p:sldId id="315" r:id="rId63"/>
    <p:sldId id="320" r:id="rId64"/>
    <p:sldId id="321" r:id="rId65"/>
    <p:sldId id="324" r:id="rId66"/>
    <p:sldId id="322" r:id="rId67"/>
    <p:sldId id="323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5D0B57"/>
    <a:srgbClr val="440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08" autoAdjust="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outlineViewPr>
    <p:cViewPr>
      <p:scale>
        <a:sx n="33" d="100"/>
        <a:sy n="33" d="100"/>
      </p:scale>
      <p:origin x="0" y="-819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F1ED-7F6D-47C2-869C-5F611D620B3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68AA2-2C8C-4C3E-A635-DCD4BA3CDE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903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8AA2-2C8C-4C3E-A635-DCD4BA3CDE2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364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49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2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03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97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1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96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15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37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6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461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54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91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483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204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847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32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ABCE7C-DCF7-453C-A121-AF632D7B2067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6F3640-2A3E-43BB-8BCC-40DFF0807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48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BD22-21E2-ABB4-C038-1BFF757E1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INFORMATION</a:t>
            </a:r>
            <a:br>
              <a:rPr lang="en-IN" dirty="0"/>
            </a:br>
            <a:r>
              <a:rPr lang="en-IN" dirty="0"/>
              <a:t>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5CAE8-B388-B848-C352-5A7853405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</a:t>
            </a:r>
            <a:r>
              <a:rPr lang="en-IN" dirty="0" err="1"/>
              <a:t>Tanishqua</a:t>
            </a:r>
            <a:r>
              <a:rPr lang="en-IN" dirty="0"/>
              <a:t> Roy</a:t>
            </a:r>
          </a:p>
        </p:txBody>
      </p:sp>
    </p:spTree>
    <p:extLst>
      <p:ext uri="{BB962C8B-B14F-4D97-AF65-F5344CB8AC3E}">
        <p14:creationId xmlns:p14="http://schemas.microsoft.com/office/powerpoint/2010/main" val="330719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823F-CB62-6565-FA4E-DEBA6C1D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Information </a:t>
            </a: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Technology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D139C-3108-EA8D-BA3A-878E7A4CE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Information Technology (IT) is the use of computers, storage, networking, software, and other physical devices to create, process, store, secure, and exchange all forms of electronic data. Anything a business or organization uses an *endpoint device for could technically be classified as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700" dirty="0"/>
              <a:t>*An endpoint device is any physical or virtual hardware that connects to a computer network, acting as a termination point for sending or receiving data. Example: laptops, smartphones, servers, tablets, IoT devices (like smart cameras or scanners).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66501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A06616-8D82-6B19-3B16-E8AF9DEA21CF}"/>
              </a:ext>
            </a:extLst>
          </p:cNvPr>
          <p:cNvSpPr txBox="1"/>
          <p:nvPr/>
        </p:nvSpPr>
        <p:spPr>
          <a:xfrm>
            <a:off x="845820" y="1831987"/>
            <a:ext cx="9364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Automates tasks and helps employees work faster and smarter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B298E-470D-41C6-D564-3F22FE0C48C4}"/>
              </a:ext>
            </a:extLst>
          </p:cNvPr>
          <p:cNvSpPr txBox="1"/>
          <p:nvPr/>
        </p:nvSpPr>
        <p:spPr>
          <a:xfrm>
            <a:off x="857250" y="806081"/>
            <a:ext cx="9258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Is 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Information 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Technology Important?</a:t>
            </a:r>
            <a:endParaRPr lang="en-IN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91D13-9B4B-84C2-2B5E-02905506D744}"/>
              </a:ext>
            </a:extLst>
          </p:cNvPr>
          <p:cNvSpPr txBox="1"/>
          <p:nvPr/>
        </p:nvSpPr>
        <p:spPr>
          <a:xfrm>
            <a:off x="845820" y="2401091"/>
            <a:ext cx="10325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000" dirty="0"/>
              <a:t>Enables remote access, data sharing, and smooth communication.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65DF5-4B65-AE82-519D-5670B2D95827}"/>
              </a:ext>
            </a:extLst>
          </p:cNvPr>
          <p:cNvSpPr txBox="1"/>
          <p:nvPr/>
        </p:nvSpPr>
        <p:spPr>
          <a:xfrm>
            <a:off x="845820" y="2991731"/>
            <a:ext cx="10035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000" dirty="0"/>
              <a:t>Protects important business data and manages secure storage systems</a:t>
            </a:r>
            <a:r>
              <a:rPr lang="en-IN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7BAE7-4D61-131D-463A-1D75CD1BD0D8}"/>
              </a:ext>
            </a:extLst>
          </p:cNvPr>
          <p:cNvSpPr txBox="1"/>
          <p:nvPr/>
        </p:nvSpPr>
        <p:spPr>
          <a:xfrm>
            <a:off x="857250" y="3564454"/>
            <a:ext cx="10325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Helps organizations integrate technology into business operations effectively</a:t>
            </a:r>
            <a:r>
              <a:rPr lang="en-IN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60120B-021D-2D47-0F56-8816F9C475B3}"/>
              </a:ext>
            </a:extLst>
          </p:cNvPr>
          <p:cNvSpPr txBox="1"/>
          <p:nvPr/>
        </p:nvSpPr>
        <p:spPr>
          <a:xfrm>
            <a:off x="857250" y="4131078"/>
            <a:ext cx="10325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000" dirty="0"/>
              <a:t>Data analysis supports better planning and business strategies</a:t>
            </a:r>
            <a:r>
              <a:rPr lang="en-IN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50B7E2-52C1-ECEB-3015-0B79EE9B2E79}"/>
              </a:ext>
            </a:extLst>
          </p:cNvPr>
          <p:cNvSpPr txBox="1"/>
          <p:nvPr/>
        </p:nvSpPr>
        <p:spPr>
          <a:xfrm>
            <a:off x="857250" y="4697702"/>
            <a:ext cx="10325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000" dirty="0"/>
              <a:t>Essential for industries like healthcare, finance, and transportation where fast and accurate data transfer is needed</a:t>
            </a:r>
            <a:r>
              <a:rPr lang="en-IN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61774D-4621-F5BD-B9FA-7776483E2076}"/>
              </a:ext>
            </a:extLst>
          </p:cNvPr>
          <p:cNvSpPr txBox="1"/>
          <p:nvPr/>
        </p:nvSpPr>
        <p:spPr>
          <a:xfrm>
            <a:off x="857250" y="5572102"/>
            <a:ext cx="10012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Saves time on manual work, allowing employees to focus on creativity and growth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564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85C6-6583-521A-CBF6-790FCEA96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65" y="662610"/>
            <a:ext cx="10734261" cy="162339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</a:rPr>
              <a:t>Information </a:t>
            </a: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Technology (IT): Hardware vs Software </a:t>
            </a:r>
            <a:br>
              <a:rPr lang="en-US" sz="2200" dirty="0"/>
            </a:br>
            <a:br>
              <a:rPr lang="en-US" dirty="0"/>
            </a:br>
            <a:r>
              <a:rPr lang="en-US" sz="2200" dirty="0"/>
              <a:t>Hardware and software work together to run IT systems efficiently.</a:t>
            </a: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F4BC4-C4D6-5A43-DF91-EA88B3A328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Hardware –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CPU (Central Processing Unit) – Processes instructions and controls operations.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Hard Drive – Stores data, applications, and operating system.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RAM (Random Access Memory) – Provides temporary fast-access memory.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Motherboard – Connects and powers all hardware components.</a:t>
            </a: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D6B97-29C5-98B4-F6BD-87320726E4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Software –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System Software – Operating systems like Windows and Linux.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Application Software – Programs such as MS Word, Excel, and web browsers.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Utility Software – Antivirus, disk cleanup, and optimization tools. </a:t>
            </a:r>
            <a:endParaRPr lang="en-IN" sz="1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047693-414C-E9E6-1AE5-22CCE348F995}"/>
              </a:ext>
            </a:extLst>
          </p:cNvPr>
          <p:cNvCxnSpPr>
            <a:cxnSpLocks/>
          </p:cNvCxnSpPr>
          <p:nvPr/>
        </p:nvCxnSpPr>
        <p:spPr>
          <a:xfrm>
            <a:off x="1298448" y="1696278"/>
            <a:ext cx="960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876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1A26-425A-CDB3-22CE-EDFF0FEE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808" y="862863"/>
            <a:ext cx="9952383" cy="1303867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Core Functions of 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Information 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Technology (IT)</a:t>
            </a:r>
            <a:endParaRPr lang="en-IN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2ED65-4422-8A30-0510-26F22FD90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3647" y="2560320"/>
            <a:ext cx="4996335" cy="3575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IT Governance -</a:t>
            </a:r>
          </a:p>
          <a:p>
            <a:r>
              <a:rPr lang="en-US" sz="1600" dirty="0"/>
              <a:t>Aligns IT activities with organizational goals.</a:t>
            </a:r>
          </a:p>
          <a:p>
            <a:r>
              <a:rPr lang="en-US" sz="1600" dirty="0"/>
              <a:t>Manage &amp; mitigate risks. </a:t>
            </a:r>
          </a:p>
          <a:p>
            <a:r>
              <a:rPr lang="en-US" sz="1600" dirty="0"/>
              <a:t>Supports budgeting, planning, and resource allocation. </a:t>
            </a:r>
          </a:p>
          <a:p>
            <a:pPr marL="0" indent="0">
              <a:buNone/>
            </a:pPr>
            <a:r>
              <a:rPr lang="en-US" sz="1800" dirty="0"/>
              <a:t>IT Operations –</a:t>
            </a:r>
          </a:p>
          <a:p>
            <a:r>
              <a:rPr lang="en-US" sz="1600" dirty="0"/>
              <a:t>Automates routine IT tasks. </a:t>
            </a:r>
          </a:p>
          <a:p>
            <a:r>
              <a:rPr lang="en-US" sz="1600" dirty="0"/>
              <a:t>Detects system and network issues early. </a:t>
            </a:r>
          </a:p>
          <a:p>
            <a:r>
              <a:rPr lang="en-US" sz="1600" dirty="0"/>
              <a:t>Enables remote troubleshooting and software updates.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7AC8E3-CB2F-AD5E-D1B3-94DB028F5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020" y="2560319"/>
            <a:ext cx="4976189" cy="3575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Cybersecurity – </a:t>
            </a:r>
          </a:p>
          <a:p>
            <a:r>
              <a:rPr lang="en-US" sz="1600" dirty="0"/>
              <a:t>Protects systems, networks, and data from cyber threats. </a:t>
            </a:r>
          </a:p>
          <a:p>
            <a:r>
              <a:rPr lang="en-US" sz="1600" dirty="0"/>
              <a:t>Prevents malware, phishing, ransomware, and data leaks.</a:t>
            </a:r>
          </a:p>
          <a:p>
            <a:pPr marL="0" indent="0">
              <a:buNone/>
            </a:pPr>
            <a:r>
              <a:rPr lang="en-US" sz="1800" dirty="0"/>
              <a:t>Data Security &amp; Database Management – </a:t>
            </a:r>
          </a:p>
          <a:p>
            <a:r>
              <a:rPr lang="en-US" sz="1600" dirty="0"/>
              <a:t>Uses DBMS for data visibility and control. </a:t>
            </a:r>
          </a:p>
          <a:p>
            <a:r>
              <a:rPr lang="en-US" sz="1600" dirty="0"/>
              <a:t>Implements zero-trust and need-to-know access principles.</a:t>
            </a:r>
          </a:p>
          <a:p>
            <a:r>
              <a:rPr lang="en-US" sz="1600" dirty="0"/>
              <a:t>Monitors access logs to detect suspicious activities early.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0718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0974-78E2-EDAB-2696-5BEC79C4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Enterprise Resource Planning (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ERP</a:t>
            </a:r>
            <a:r>
              <a:rPr lang="en-IN" b="1" dirty="0"/>
              <a:t>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73E9-645F-066D-1F36-44B031B31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What Is Enterprise Resource Planning (ERP)?</a:t>
            </a:r>
          </a:p>
          <a:p>
            <a:pPr marL="0" indent="0">
              <a:buNone/>
            </a:pPr>
            <a:r>
              <a:rPr lang="en-US" dirty="0"/>
              <a:t>Enterprise Resource Planning (ERP) is software that integrates core business processes—such as finance, HR, manufacturing, supply chain, and sales—into a single, unified system. </a:t>
            </a:r>
          </a:p>
          <a:p>
            <a:pPr marL="0" indent="0">
              <a:buNone/>
            </a:pPr>
            <a:r>
              <a:rPr lang="en-US" dirty="0"/>
              <a:t>Instead of each department operating on its own, ERP provides a single interface that improves visibility and coordination, helps reducing duplication, and supports more efficient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658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BE88-EF92-B351-814B-F9B52E4D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67266"/>
            <a:ext cx="9601196" cy="1717588"/>
          </a:xfrm>
        </p:spPr>
        <p:txBody>
          <a:bodyPr>
            <a:normAutofit/>
          </a:bodyPr>
          <a:lstStyle/>
          <a:p>
            <a:r>
              <a:rPr lang="en-US" sz="4000" b="1" dirty="0"/>
              <a:t>How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ERP</a:t>
            </a:r>
            <a:r>
              <a:rPr lang="en-US" sz="4000" b="1" dirty="0"/>
              <a:t> Platform Works 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These platforms are maintained by the provider, with client companies accessing the software through a subscription or service-based model.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5271-981C-15A0-EB7F-93257DF1E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68143"/>
            <a:ext cx="9601196" cy="331893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Businesses select the applications.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Hosting company loads the applications on the server.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Both parties begin working to integrate the client's data.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Authorized users can instantly access updated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Generates reports, graphs, and performance metrics.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Helps businesses monitor operations and make better decisions.</a:t>
            </a:r>
            <a:endParaRPr lang="en-IN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4FC4F4-D732-2C28-DC48-753ABE214E67}"/>
              </a:ext>
            </a:extLst>
          </p:cNvPr>
          <p:cNvSpPr/>
          <p:nvPr/>
        </p:nvSpPr>
        <p:spPr>
          <a:xfrm>
            <a:off x="1295401" y="1526060"/>
            <a:ext cx="9601196" cy="840259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62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B0D1-709F-AA2C-3628-8132073B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Types of </a:t>
            </a:r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ERP</a:t>
            </a:r>
            <a:r>
              <a:rPr lang="en-IN" sz="4000" b="1" dirty="0"/>
              <a:t>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D9FAF-4197-7796-131A-5F1AD4CD7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60381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dirty="0"/>
              <a:t>On-Premise ERP –</a:t>
            </a:r>
          </a:p>
          <a:p>
            <a:pPr>
              <a:buFontTx/>
              <a:buChar char="-"/>
            </a:pPr>
            <a:r>
              <a:rPr lang="en-US" sz="1600" dirty="0"/>
              <a:t>Installed on company servers.</a:t>
            </a:r>
          </a:p>
          <a:p>
            <a:pPr>
              <a:buFontTx/>
              <a:buChar char="-"/>
            </a:pPr>
            <a:r>
              <a:rPr lang="en-US" sz="1600" dirty="0"/>
              <a:t>Offers full control and customization.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Cloud ERP –</a:t>
            </a:r>
          </a:p>
          <a:p>
            <a:pPr>
              <a:buFontTx/>
              <a:buChar char="-"/>
            </a:pPr>
            <a:r>
              <a:rPr lang="en-US" sz="1600" dirty="0"/>
              <a:t>Hosted online and accessed through the internet.</a:t>
            </a:r>
          </a:p>
          <a:p>
            <a:pPr>
              <a:buFontTx/>
              <a:buChar char="-"/>
            </a:pPr>
            <a:r>
              <a:rPr lang="en-US" sz="1600" dirty="0"/>
              <a:t>Scalable, subscription-based, and easy to maintain.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Industry-Specific ERP – </a:t>
            </a:r>
          </a:p>
          <a:p>
            <a:pPr>
              <a:buFontTx/>
              <a:buChar char="-"/>
            </a:pPr>
            <a:r>
              <a:rPr lang="en-US" sz="1600" dirty="0"/>
              <a:t>Designed for specific industries.</a:t>
            </a:r>
          </a:p>
          <a:p>
            <a:pPr>
              <a:buFontTx/>
              <a:buChar char="-"/>
            </a:pPr>
            <a:r>
              <a:rPr lang="en-US" sz="1600" dirty="0"/>
              <a:t>Includes specialized tools and features.</a:t>
            </a:r>
            <a:endParaRPr lang="en-IN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186737-C589-362E-86F6-F216BB8BF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560319"/>
            <a:ext cx="4718304" cy="351775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Open-Source ERP – </a:t>
            </a:r>
          </a:p>
          <a:p>
            <a:pPr>
              <a:buFontTx/>
              <a:buChar char="-"/>
            </a:pPr>
            <a:r>
              <a:rPr lang="en-US" sz="1700" dirty="0"/>
              <a:t>Source code is accessible and customizable.</a:t>
            </a:r>
          </a:p>
          <a:p>
            <a:pPr>
              <a:buFontTx/>
              <a:buChar char="-"/>
            </a:pPr>
            <a:r>
              <a:rPr lang="en-US" sz="1700" dirty="0"/>
              <a:t>Requires technical expertise for management.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Small Business ERP – </a:t>
            </a:r>
          </a:p>
          <a:p>
            <a:pPr>
              <a:buFontTx/>
              <a:buChar char="-"/>
            </a:pPr>
            <a:r>
              <a:rPr lang="en-US" sz="1700" dirty="0"/>
              <a:t>Built for small and medium businesses (SMBs).</a:t>
            </a:r>
          </a:p>
          <a:p>
            <a:pPr>
              <a:buFontTx/>
              <a:buChar char="-"/>
            </a:pPr>
            <a:r>
              <a:rPr lang="en-US" sz="1700" dirty="0"/>
              <a:t>Affordable and easier to implement.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Tiered ERP –</a:t>
            </a:r>
          </a:p>
          <a:p>
            <a:pPr>
              <a:buFontTx/>
              <a:buChar char="-"/>
            </a:pPr>
            <a:r>
              <a:rPr lang="en-US" sz="1700" dirty="0"/>
              <a:t>Offers different levels of features and scalability.</a:t>
            </a:r>
          </a:p>
          <a:p>
            <a:pPr>
              <a:buFontTx/>
              <a:buChar char="-"/>
            </a:pPr>
            <a:r>
              <a:rPr lang="en-US" sz="1700" dirty="0"/>
              <a:t>Businesses can upgrade modules as they grow.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6817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07BE-5175-66DA-E2AD-83786E3C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Benefits of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ERP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293E2-B800-9E2E-3401-3F4640C95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56932"/>
            <a:ext cx="10079915" cy="3607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Reduces errors and improves workflow.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Provides real-time data and reports.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Helps in planning, budgeting, and forecasting.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Quick access to business information.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Improves response time and reduces costs.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Enhances teamwork between departments.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Reduces manual tasks and improves employee productivity.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514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7699-82EB-2ADF-3BC6-0EBB5AA7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ERP</a:t>
            </a:r>
            <a:r>
              <a:rPr lang="en-IN" b="1" dirty="0"/>
              <a:t>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50994-24B5-41CA-21CF-47C89DBD2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96218"/>
          </a:xfrm>
        </p:spPr>
        <p:txBody>
          <a:bodyPr>
            <a:normAutofit/>
          </a:bodyPr>
          <a:lstStyle/>
          <a:p>
            <a:r>
              <a:rPr lang="en-US" dirty="0"/>
              <a:t>Does not always eliminate inefficiencies.</a:t>
            </a:r>
          </a:p>
          <a:p>
            <a:r>
              <a:rPr lang="en-US" dirty="0"/>
              <a:t>May create technology compatibility issues.</a:t>
            </a:r>
          </a:p>
          <a:p>
            <a:r>
              <a:rPr lang="en-US" dirty="0"/>
              <a:t>Failure to achieve expected objectives.</a:t>
            </a:r>
          </a:p>
          <a:p>
            <a:r>
              <a:rPr lang="en-US" dirty="0"/>
              <a:t>High implementation and maintenance costs.</a:t>
            </a:r>
          </a:p>
          <a:p>
            <a:r>
              <a:rPr lang="en-US" dirty="0"/>
              <a:t>Complex system requiring employee training.</a:t>
            </a:r>
          </a:p>
          <a:p>
            <a:r>
              <a:rPr lang="en-US" dirty="0"/>
              <a:t>Time-consuming implementation process.</a:t>
            </a:r>
          </a:p>
          <a:p>
            <a:r>
              <a:rPr lang="en-US" dirty="0"/>
              <a:t>Dependence on vendor support.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02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146422-8535-350D-D91C-F2AF153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ERP</a:t>
            </a:r>
            <a:r>
              <a:rPr lang="en-IN" b="1" dirty="0"/>
              <a:t> vs CRM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1625B-F5EB-61EA-C182-A14C43ED1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ERP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08EE3C-946E-63A7-42F6-031A6435F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947988"/>
          </a:xfrm>
        </p:spPr>
        <p:txBody>
          <a:bodyPr>
            <a:normAutofit fontScale="92500"/>
          </a:bodyPr>
          <a:lstStyle/>
          <a:p>
            <a:r>
              <a:rPr lang="en-US" dirty="0"/>
              <a:t>Focuses on internal business processes.</a:t>
            </a:r>
          </a:p>
          <a:p>
            <a:r>
              <a:rPr lang="en-US" dirty="0"/>
              <a:t>Manages operations, finance, inventory, HR.</a:t>
            </a:r>
          </a:p>
          <a:p>
            <a:r>
              <a:rPr lang="en-US" dirty="0"/>
              <a:t>Goal: Improve efficiency and automation.</a:t>
            </a:r>
          </a:p>
          <a:p>
            <a:r>
              <a:rPr lang="en-US" dirty="0"/>
              <a:t>Can include CRM features in modern systems.</a:t>
            </a: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50B2AC-6815-47F0-C3C9-13A507AC8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AFBFC1-72A9-FAD6-A36A-CFBC39274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947988"/>
          </a:xfrm>
        </p:spPr>
        <p:txBody>
          <a:bodyPr>
            <a:normAutofit fontScale="92500"/>
          </a:bodyPr>
          <a:lstStyle/>
          <a:p>
            <a:r>
              <a:rPr lang="en-IN" dirty="0"/>
              <a:t>Focuses on customer relationships.</a:t>
            </a:r>
          </a:p>
          <a:p>
            <a:r>
              <a:rPr lang="en-US" dirty="0"/>
              <a:t>Manages sales, marketing, and customer service.</a:t>
            </a:r>
          </a:p>
          <a:p>
            <a:r>
              <a:rPr lang="en-US" dirty="0"/>
              <a:t>Goal: Improve customer satisfaction and loyalty.</a:t>
            </a:r>
          </a:p>
          <a:p>
            <a:r>
              <a:rPr lang="en-US" dirty="0"/>
              <a:t>Stores customer data and communication history.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244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55EB-CDA1-5C64-7B2D-0DF71A08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ERP</a:t>
            </a:r>
            <a:r>
              <a:rPr lang="en-IN" b="1" dirty="0"/>
              <a:t>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7E6D-A029-7BC8-BEBB-E010DD211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u="sng" dirty="0"/>
              <a:t>Oracle Corporation </a:t>
            </a:r>
            <a:r>
              <a:rPr lang="en-US" dirty="0"/>
              <a:t>helped Ronin Gallery double employee productivity by integrating inventory and accounting in one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u="sng" dirty="0"/>
              <a:t>N&amp;N </a:t>
            </a:r>
            <a:r>
              <a:rPr lang="en-US" dirty="0"/>
              <a:t>Moving Supplies used NetSuite to reduce payroll processing time by 84% and improve data accuracy across locations.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u="sng" dirty="0"/>
              <a:t>Green Rabbit </a:t>
            </a:r>
            <a:r>
              <a:rPr lang="en-US" dirty="0"/>
              <a:t>implemented ERP software to reduce inventory errors, improve order fulfillment, and synchronize business data efficiently.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912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5813-2515-7568-A928-390C26E8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 </a:t>
            </a:r>
            <a:r>
              <a:rPr lang="en-IN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4F92F-795C-79AB-3B5A-0E093FB53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Data refers to raw facts, figures, or information that represent details about events, objects, or phenomena.</a:t>
            </a:r>
          </a:p>
          <a:p>
            <a:pPr marL="0" indent="0">
              <a:buNone/>
            </a:pPr>
            <a:r>
              <a:rPr lang="en-US" sz="3200" dirty="0"/>
              <a:t>Data helps organizations make decisions and solve problems.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642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E59B-45F7-E0A4-59D0-20CFDD58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Types of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86903-0E05-36EF-A143-53A779CE8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69548"/>
          </a:xfrm>
        </p:spPr>
        <p:txBody>
          <a:bodyPr>
            <a:noAutofit/>
          </a:bodyPr>
          <a:lstStyle/>
          <a:p>
            <a:r>
              <a:rPr lang="en-IN" sz="3200" dirty="0"/>
              <a:t>Structured Data – organized in rows and columns (databases, spreadsheets).</a:t>
            </a:r>
          </a:p>
          <a:p>
            <a:r>
              <a:rPr lang="en-IN" sz="3200" dirty="0"/>
              <a:t>Semi-Structured Data – partially organized (JSON, XML, emails).</a:t>
            </a:r>
          </a:p>
          <a:p>
            <a:r>
              <a:rPr lang="en-IN" sz="3200" dirty="0"/>
              <a:t>Unstructured Data – no fixed format (images, videos, social media posts).</a:t>
            </a:r>
          </a:p>
        </p:txBody>
      </p:sp>
    </p:spTree>
    <p:extLst>
      <p:ext uri="{BB962C8B-B14F-4D97-AF65-F5344CB8AC3E}">
        <p14:creationId xmlns:p14="http://schemas.microsoft.com/office/powerpoint/2010/main" val="27266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B2DB-6EB1-B764-3896-92B71304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Sources of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4A017-B9A6-08FB-8058-CC5C716E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Internal Data</a:t>
            </a:r>
          </a:p>
          <a:p>
            <a:r>
              <a:rPr lang="en-IN" sz="3600" dirty="0"/>
              <a:t>Third-Party Analytics</a:t>
            </a:r>
          </a:p>
          <a:p>
            <a:r>
              <a:rPr lang="en-IN" sz="3600" dirty="0"/>
              <a:t>External Data</a:t>
            </a:r>
          </a:p>
          <a:p>
            <a:r>
              <a:rPr lang="en-IN" sz="3600" dirty="0"/>
              <a:t>Open Data</a:t>
            </a:r>
          </a:p>
        </p:txBody>
      </p:sp>
    </p:spTree>
    <p:extLst>
      <p:ext uri="{BB962C8B-B14F-4D97-AF65-F5344CB8AC3E}">
        <p14:creationId xmlns:p14="http://schemas.microsoft.com/office/powerpoint/2010/main" val="147839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00D1-C561-A2CF-A78E-8A1A48926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Internal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BF0E0-3357-93B2-2FD4-FC65B14BD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560320"/>
            <a:ext cx="5096257" cy="3543300"/>
          </a:xfrm>
        </p:spPr>
        <p:txBody>
          <a:bodyPr>
            <a:normAutofit/>
          </a:bodyPr>
          <a:lstStyle/>
          <a:p>
            <a:r>
              <a:rPr lang="en-US" dirty="0"/>
              <a:t>Data collected within the organization.</a:t>
            </a:r>
          </a:p>
          <a:p>
            <a:r>
              <a:rPr lang="en-US" dirty="0"/>
              <a:t>Generated through daily operations.</a:t>
            </a:r>
          </a:p>
          <a:p>
            <a:r>
              <a:rPr lang="en-US" dirty="0"/>
              <a:t>Stored in CRM, ERP, and databases.</a:t>
            </a:r>
          </a:p>
          <a:p>
            <a:r>
              <a:rPr lang="en-IN" b="1" dirty="0"/>
              <a:t>Examples </a:t>
            </a:r>
            <a:r>
              <a:rPr lang="en-IN" dirty="0"/>
              <a:t>-  </a:t>
            </a:r>
            <a:r>
              <a:rPr lang="en-US" dirty="0"/>
              <a:t>Customer purchases , Employee payments , Website activity , Email marketing metrics.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3EFD5B-C3A9-B687-2B77-256CEA930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565740"/>
            <a:ext cx="5096255" cy="3537880"/>
          </a:xfrm>
        </p:spPr>
        <p:txBody>
          <a:bodyPr>
            <a:normAutofit/>
          </a:bodyPr>
          <a:lstStyle/>
          <a:p>
            <a:r>
              <a:rPr lang="en-IN" sz="2800" b="1" dirty="0"/>
              <a:t>Advantages</a:t>
            </a:r>
            <a:r>
              <a:rPr lang="en-IN" sz="2800" dirty="0"/>
              <a:t> – </a:t>
            </a:r>
          </a:p>
          <a:p>
            <a:pPr>
              <a:buFontTx/>
              <a:buChar char="-"/>
            </a:pPr>
            <a:r>
              <a:rPr lang="en-US" dirty="0"/>
              <a:t>Easily available.</a:t>
            </a:r>
          </a:p>
          <a:p>
            <a:pPr>
              <a:buFontTx/>
              <a:buChar char="-"/>
            </a:pPr>
            <a:r>
              <a:rPr lang="en-US" dirty="0"/>
              <a:t>No external permission needed.</a:t>
            </a:r>
          </a:p>
          <a:p>
            <a:pPr>
              <a:buFontTx/>
              <a:buChar char="-"/>
            </a:pPr>
            <a:r>
              <a:rPr lang="en-US" dirty="0"/>
              <a:t>Reliable and familiar format.</a:t>
            </a:r>
          </a:p>
          <a:p>
            <a:pPr>
              <a:buFontTx/>
              <a:buChar char="-"/>
            </a:pPr>
            <a:r>
              <a:rPr lang="en-US" dirty="0"/>
              <a:t>Saves time and cost.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500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0A9-7DC1-EC65-33B2-ABEA1FE9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Third-Party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Analytics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3BC31-F68B-B7CA-3386-3F866DEB45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dirty="0"/>
              <a:t>External services for data analysis.</a:t>
            </a:r>
          </a:p>
          <a:p>
            <a:r>
              <a:rPr lang="en-US" sz="2800" dirty="0"/>
              <a:t>Helps track website and app performance.</a:t>
            </a:r>
          </a:p>
          <a:p>
            <a:r>
              <a:rPr lang="en-IN" sz="2800" b="1" dirty="0"/>
              <a:t>Example - </a:t>
            </a:r>
          </a:p>
          <a:p>
            <a:pPr>
              <a:buFontTx/>
              <a:buChar char="-"/>
            </a:pPr>
            <a:r>
              <a:rPr lang="en-IN" sz="2800" dirty="0"/>
              <a:t>Google Analytics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349C0D-EBBE-143C-411A-3DD204CD0C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Benefits</a:t>
            </a:r>
            <a:r>
              <a:rPr lang="en-IN" sz="2800" dirty="0"/>
              <a:t> – </a:t>
            </a:r>
          </a:p>
          <a:p>
            <a:pPr>
              <a:buFontTx/>
              <a:buChar char="-"/>
            </a:pPr>
            <a:r>
              <a:rPr lang="en-US" sz="2800" dirty="0"/>
              <a:t>Cost-effective.</a:t>
            </a:r>
          </a:p>
          <a:p>
            <a:pPr>
              <a:buFontTx/>
              <a:buChar char="-"/>
            </a:pPr>
            <a:r>
              <a:rPr lang="en-US" sz="2800" dirty="0"/>
              <a:t>Easy reporting and insights.</a:t>
            </a:r>
          </a:p>
          <a:p>
            <a:pPr>
              <a:buFontTx/>
              <a:buChar char="-"/>
            </a:pPr>
            <a:r>
              <a:rPr lang="en-US" sz="2800" dirty="0"/>
              <a:t>User </a:t>
            </a:r>
            <a:r>
              <a:rPr lang="en-US" sz="2800" dirty="0" err="1"/>
              <a:t>behaviour</a:t>
            </a:r>
            <a:r>
              <a:rPr lang="en-US" sz="2800" dirty="0"/>
              <a:t> analysis.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6751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0842F9-4437-9170-9C61-B77E750A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External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E23059-4958-74BC-485F-0AE98965C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2020" y="2560320"/>
            <a:ext cx="5094732" cy="3611880"/>
          </a:xfrm>
        </p:spPr>
        <p:txBody>
          <a:bodyPr>
            <a:normAutofit/>
          </a:bodyPr>
          <a:lstStyle/>
          <a:p>
            <a:r>
              <a:rPr lang="en-US" dirty="0"/>
              <a:t>Data collected from outside sources. </a:t>
            </a:r>
          </a:p>
          <a:p>
            <a:r>
              <a:rPr lang="en-US" dirty="0"/>
              <a:t>Helps study market and social trends. </a:t>
            </a:r>
          </a:p>
          <a:p>
            <a:r>
              <a:rPr lang="en-US" b="1" dirty="0"/>
              <a:t>Examples - </a:t>
            </a:r>
          </a:p>
          <a:p>
            <a:pPr marL="0" indent="0">
              <a:buNone/>
            </a:pPr>
            <a:r>
              <a:rPr lang="en-US" dirty="0"/>
              <a:t>Weather data , Market prices , Social media trends , Demographic information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04A04-523B-9F59-79E9-2962B424F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5088636" cy="3611880"/>
          </a:xfrm>
        </p:spPr>
        <p:txBody>
          <a:bodyPr>
            <a:normAutofit/>
          </a:bodyPr>
          <a:lstStyle/>
          <a:p>
            <a:r>
              <a:rPr lang="en-US" b="1" dirty="0"/>
              <a:t>Sources - </a:t>
            </a:r>
          </a:p>
          <a:p>
            <a:pPr>
              <a:buFontTx/>
              <a:buChar char="-"/>
            </a:pPr>
            <a:r>
              <a:rPr lang="en-US" dirty="0"/>
              <a:t>Government databases </a:t>
            </a:r>
          </a:p>
          <a:p>
            <a:pPr>
              <a:buFontTx/>
              <a:buChar char="-"/>
            </a:pPr>
            <a:r>
              <a:rPr lang="en-US" dirty="0"/>
              <a:t>Social media platforms </a:t>
            </a:r>
          </a:p>
          <a:p>
            <a:pPr>
              <a:buFontTx/>
              <a:buChar char="-"/>
            </a:pPr>
            <a:r>
              <a:rPr lang="en-US" dirty="0"/>
              <a:t>Research companies </a:t>
            </a:r>
          </a:p>
          <a:p>
            <a:pPr>
              <a:buFontTx/>
              <a:buChar char="-"/>
            </a:pPr>
            <a:r>
              <a:rPr lang="en-US" dirty="0"/>
              <a:t>Financial services </a:t>
            </a:r>
          </a:p>
          <a:p>
            <a:r>
              <a:rPr lang="en-US" b="1" dirty="0"/>
              <a:t>Examples - </a:t>
            </a:r>
            <a:r>
              <a:rPr lang="en-US" dirty="0"/>
              <a:t>Twitter , LinkedIn , Thomson Reuters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615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14A40A-27F9-58A2-665C-47712433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Open</a:t>
            </a:r>
            <a:r>
              <a:rPr lang="en-IN" dirty="0"/>
              <a:t>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6A1BF3-BC60-FCA2-F43D-E966E3E28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1540" y="2560320"/>
            <a:ext cx="5125212" cy="3497580"/>
          </a:xfrm>
        </p:spPr>
        <p:txBody>
          <a:bodyPr>
            <a:normAutofit/>
          </a:bodyPr>
          <a:lstStyle/>
          <a:p>
            <a:r>
              <a:rPr lang="en-US" dirty="0"/>
              <a:t>Publicly available and free to use. </a:t>
            </a:r>
          </a:p>
          <a:p>
            <a:r>
              <a:rPr lang="en-US" dirty="0"/>
              <a:t>Accessible to everyone.</a:t>
            </a:r>
          </a:p>
          <a:p>
            <a:r>
              <a:rPr lang="en-US" b="1" dirty="0"/>
              <a:t>Challenges -</a:t>
            </a:r>
          </a:p>
          <a:p>
            <a:r>
              <a:rPr lang="en-US" dirty="0"/>
              <a:t>May need cleaning and formatting .</a:t>
            </a:r>
          </a:p>
          <a:p>
            <a:r>
              <a:rPr lang="en-US" dirty="0"/>
              <a:t>Sometimes too general.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1F15D-816F-481B-7471-BE23FCEFA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5119116" cy="3497580"/>
          </a:xfrm>
        </p:spPr>
        <p:txBody>
          <a:bodyPr>
            <a:normAutofit/>
          </a:bodyPr>
          <a:lstStyle/>
          <a:p>
            <a:r>
              <a:rPr lang="en-US" b="1" dirty="0"/>
              <a:t>Open Data Sources -</a:t>
            </a:r>
          </a:p>
          <a:p>
            <a:pPr>
              <a:buFontTx/>
              <a:buChar char="-"/>
            </a:pPr>
            <a:r>
              <a:rPr lang="en-US" b="1" dirty="0"/>
              <a:t>Government Data - </a:t>
            </a:r>
            <a:r>
              <a:rPr lang="en-US" dirty="0"/>
              <a:t>Data.gov , Data.gov.uk </a:t>
            </a:r>
          </a:p>
          <a:p>
            <a:pPr>
              <a:buFontTx/>
              <a:buChar char="-"/>
            </a:pPr>
            <a:r>
              <a:rPr lang="en-US" b="1" dirty="0"/>
              <a:t>Scientific &amp; Health Data - </a:t>
            </a:r>
            <a:r>
              <a:rPr lang="en-US" dirty="0"/>
              <a:t>World Health Organization </a:t>
            </a:r>
          </a:p>
          <a:p>
            <a:pPr>
              <a:buFontTx/>
              <a:buChar char="-"/>
            </a:pPr>
            <a:r>
              <a:rPr lang="en-US" b="1" dirty="0"/>
              <a:t>Trend &amp; Finance Data - </a:t>
            </a:r>
            <a:r>
              <a:rPr lang="en-US" dirty="0"/>
              <a:t>Google Trends , Yahoo Finance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082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2E58-BA64-9852-BBCF-400EFCE4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Who is a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Business</a:t>
            </a:r>
            <a:r>
              <a:rPr lang="en-US" b="1" dirty="0"/>
              <a:t> Analyst?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EBCF2-ADDD-444A-00A8-D1831715C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</a:t>
            </a:r>
            <a:r>
              <a:rPr lang="en-US" sz="3200" b="1" dirty="0"/>
              <a:t>business analyst </a:t>
            </a:r>
            <a:r>
              <a:rPr lang="en-US" sz="3200" dirty="0"/>
              <a:t>(BA) is a professional who acts as a bridge between business stakeholders and technology teams, using data analysis to identify inefficiencies and recommend solutions that improve processes, products, and software.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02111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7008-2E7E-F997-B25D-CFA46175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Core </a:t>
            </a: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Business</a:t>
            </a:r>
            <a:r>
              <a:rPr lang="en-IN" b="1" dirty="0"/>
              <a:t> Analytics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4E9A-49EA-D3AC-8C30-C09CA1E1B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Good communicator</a:t>
            </a:r>
          </a:p>
          <a:p>
            <a:r>
              <a:rPr lang="en-IN" b="1" dirty="0"/>
              <a:t>Inquisitive</a:t>
            </a:r>
          </a:p>
          <a:p>
            <a:r>
              <a:rPr lang="en-IN" b="1" dirty="0"/>
              <a:t>Problem solver</a:t>
            </a:r>
          </a:p>
          <a:p>
            <a:r>
              <a:rPr lang="en-IN" b="1" dirty="0"/>
              <a:t>Critical thinker</a:t>
            </a:r>
          </a:p>
          <a:p>
            <a:r>
              <a:rPr lang="en-IN" b="1" dirty="0"/>
              <a:t>Visualizer</a:t>
            </a:r>
          </a:p>
          <a:p>
            <a:r>
              <a:rPr lang="en-IN" b="1" dirty="0"/>
              <a:t>Detail-oriented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036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02BB-A6BF-6EE2-5C68-887A7CB0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Technical Skills for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Business</a:t>
            </a:r>
            <a:r>
              <a:rPr lang="en-US" b="1" dirty="0"/>
              <a:t>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2B00-535F-6C78-ABA9-A51C59294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SQL</a:t>
            </a:r>
          </a:p>
          <a:p>
            <a:r>
              <a:rPr lang="en-IN" sz="3200" b="1" dirty="0"/>
              <a:t>Statistical languages</a:t>
            </a:r>
          </a:p>
          <a:p>
            <a:r>
              <a:rPr lang="en-IN" sz="3200" b="1" dirty="0"/>
              <a:t>Statistical software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45256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2E3B-E38B-9485-B21E-0A0977EC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Types of </a:t>
            </a: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Analytics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33AF-FAAC-B659-5C5B-F20527B51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5" y="2556931"/>
            <a:ext cx="10441172" cy="3567421"/>
          </a:xfrm>
        </p:spPr>
        <p:txBody>
          <a:bodyPr>
            <a:normAutofit/>
          </a:bodyPr>
          <a:lstStyle/>
          <a:p>
            <a:r>
              <a:rPr lang="en-IN" dirty="0"/>
              <a:t>Descriptive analytics : </a:t>
            </a:r>
            <a:r>
              <a:rPr lang="en-US" dirty="0"/>
              <a:t>The process of using historical data to answer "what happened" by identifying trends, patterns, and anomalies.</a:t>
            </a:r>
          </a:p>
          <a:p>
            <a:r>
              <a:rPr lang="en-IN" dirty="0"/>
              <a:t>Diagnostic Analytics : </a:t>
            </a:r>
            <a:r>
              <a:rPr lang="en-US" dirty="0"/>
              <a:t> The process of using past performance of campaigns and processes to determine what happened and “why”.</a:t>
            </a:r>
          </a:p>
          <a:p>
            <a:r>
              <a:rPr lang="en-IN" dirty="0"/>
              <a:t>Predictive Analytics : </a:t>
            </a:r>
            <a:r>
              <a:rPr lang="en-US" dirty="0"/>
              <a:t>The process of using statistical modeling, data mining, and machine learning to know “what’s likely to happen in the future?”.</a:t>
            </a:r>
          </a:p>
          <a:p>
            <a:r>
              <a:rPr lang="en-IN" dirty="0"/>
              <a:t>Prescriptive Analytics : </a:t>
            </a:r>
            <a:r>
              <a:rPr lang="en-US" dirty="0"/>
              <a:t>The process of using machine learning, business rules, and mathematical optimization, it answers the question, "What should we do next?".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849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FA4A-7D52-F21D-BE82-F23D6243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Analysis</a:t>
            </a:r>
            <a:r>
              <a:rPr lang="en-US" b="1" dirty="0"/>
              <a:t> Methodologies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E19F6-0794-DA0E-E2F3-E3C60A7B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Waterfall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90A575-F99F-E884-7ED0-3C366BA4B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1870" y="3243262"/>
            <a:ext cx="5141834" cy="3008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 linear and sequential project management approach where each phase is completed before moving to the next phase. It is best suited for projects with fixed requirements and clear objectives.</a:t>
            </a:r>
            <a:endParaRPr lang="en-IN" sz="2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2F3532-40C3-0BA1-DEA6-B1A3161DE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457200" indent="-45720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Agile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98C828-D7CA-5B44-42D5-04FFEF9DC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670" y="3213530"/>
            <a:ext cx="5139460" cy="30086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A flexible and iterative project management approach that focuses on continuous improvement, teamwork, customer feedback, and quick adaptation to changing requirements.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0238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BF8106-2D66-CEC8-8B6C-9FD5C31E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Pros &amp; Cons of Waterfall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E113560-43E5-30B2-1279-6810A4E36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PROS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5547931-1B2A-9A82-853B-2A64EC9335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Simple and easy to understand </a:t>
            </a:r>
          </a:p>
          <a:p>
            <a:pPr>
              <a:buFontTx/>
              <a:buChar char="-"/>
            </a:pPr>
            <a:r>
              <a:rPr lang="en-US" dirty="0"/>
              <a:t>Clear project structure </a:t>
            </a:r>
          </a:p>
          <a:p>
            <a:pPr>
              <a:buFontTx/>
              <a:buChar char="-"/>
            </a:pPr>
            <a:r>
              <a:rPr lang="en-US" dirty="0"/>
              <a:t>Well-documented process </a:t>
            </a:r>
          </a:p>
          <a:p>
            <a:pPr>
              <a:buFontTx/>
              <a:buChar char="-"/>
            </a:pPr>
            <a:r>
              <a:rPr lang="en-US" dirty="0"/>
              <a:t>Easy to manage deadlines </a:t>
            </a:r>
          </a:p>
          <a:p>
            <a:pPr>
              <a:buFontTx/>
              <a:buChar char="-"/>
            </a:pPr>
            <a:r>
              <a:rPr lang="en-US" dirty="0"/>
              <a:t>Suitable for fixed requirements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282B51-27BA-F9A7-1A55-49CA2B11F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CONS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2BD7BA-899B-66EE-84CC-ECDCFBCC098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Difficult to make changes later</a:t>
            </a:r>
          </a:p>
          <a:p>
            <a:pPr>
              <a:buFontTx/>
              <a:buChar char="-"/>
            </a:pPr>
            <a:r>
              <a:rPr lang="en-US" dirty="0"/>
              <a:t> Testing occurs very late </a:t>
            </a:r>
          </a:p>
          <a:p>
            <a:pPr>
              <a:buFontTx/>
              <a:buChar char="-"/>
            </a:pPr>
            <a:r>
              <a:rPr lang="en-US" dirty="0"/>
              <a:t>Less flexibility </a:t>
            </a:r>
          </a:p>
          <a:p>
            <a:pPr>
              <a:buFontTx/>
              <a:buChar char="-"/>
            </a:pPr>
            <a:r>
              <a:rPr lang="en-US" dirty="0"/>
              <a:t>Higher risk if requirements change </a:t>
            </a:r>
          </a:p>
          <a:p>
            <a:pPr>
              <a:buFontTx/>
              <a:buChar char="-"/>
            </a:pPr>
            <a:r>
              <a:rPr lang="en-US" dirty="0"/>
              <a:t>Not ideal for dynamic projects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036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455EBE-2E14-AEC4-676B-97370E1B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Pros &amp; Cons of Agile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7F00A-70BD-ADE7-1485-334298B0E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PROS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4DF25-2205-224D-FEFD-21DF47FEC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6930" y="3243262"/>
            <a:ext cx="5056774" cy="290235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Faster product delivery </a:t>
            </a:r>
          </a:p>
          <a:p>
            <a:pPr>
              <a:buFontTx/>
              <a:buChar char="-"/>
            </a:pPr>
            <a:r>
              <a:rPr lang="en-US" dirty="0"/>
              <a:t>High flexibility </a:t>
            </a:r>
          </a:p>
          <a:p>
            <a:pPr>
              <a:buFontTx/>
              <a:buChar char="-"/>
            </a:pPr>
            <a:r>
              <a:rPr lang="en-US" dirty="0"/>
              <a:t>Better customer satisfaction </a:t>
            </a:r>
          </a:p>
          <a:p>
            <a:pPr>
              <a:buFontTx/>
              <a:buChar char="-"/>
            </a:pPr>
            <a:r>
              <a:rPr lang="en-US" dirty="0"/>
              <a:t>Continuous testing and improvement </a:t>
            </a:r>
          </a:p>
          <a:p>
            <a:pPr>
              <a:buFontTx/>
              <a:buChar char="-"/>
            </a:pPr>
            <a:r>
              <a:rPr lang="en-US" dirty="0"/>
              <a:t>Easier to adapt changes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8CED1-0AF4-89B5-36EF-ACAB183B3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CONS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381844-0362-3AB1-0E4C-7EADE6EA2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5054400" cy="290235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Requires active customer involvement </a:t>
            </a:r>
          </a:p>
          <a:p>
            <a:pPr>
              <a:buFontTx/>
              <a:buChar char="-"/>
            </a:pPr>
            <a:r>
              <a:rPr lang="en-US" dirty="0"/>
              <a:t>Difficult to predict timelines </a:t>
            </a:r>
          </a:p>
          <a:p>
            <a:pPr>
              <a:buFontTx/>
              <a:buChar char="-"/>
            </a:pPr>
            <a:r>
              <a:rPr lang="en-US" dirty="0"/>
              <a:t>Documentation may be limited </a:t>
            </a:r>
          </a:p>
          <a:p>
            <a:pPr>
              <a:buFontTx/>
              <a:buChar char="-"/>
            </a:pPr>
            <a:r>
              <a:rPr lang="en-US" dirty="0"/>
              <a:t>Can become complex for large teams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634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6C9A-5F5F-9A2A-363C-CABBBD2F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Agile vs Waterfall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69461-0A95-0985-CF40-91D1375B1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Waterfall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1F9DE-B879-ED20-7199-E62790288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6930" y="3243262"/>
            <a:ext cx="5056774" cy="296615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Linear approach</a:t>
            </a:r>
          </a:p>
          <a:p>
            <a:r>
              <a:rPr lang="en-IN" dirty="0"/>
              <a:t>Fixed requirements</a:t>
            </a:r>
          </a:p>
          <a:p>
            <a:r>
              <a:rPr lang="en-IN" dirty="0"/>
              <a:t>Changes are difficult</a:t>
            </a:r>
          </a:p>
          <a:p>
            <a:r>
              <a:rPr lang="en-IN" dirty="0"/>
              <a:t>Sequential phases</a:t>
            </a:r>
          </a:p>
          <a:p>
            <a:r>
              <a:rPr lang="en-IN" dirty="0"/>
              <a:t>Less customer involvement</a:t>
            </a:r>
          </a:p>
          <a:p>
            <a:r>
              <a:rPr lang="en-IN" dirty="0"/>
              <a:t>Best for stable projects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E4155-64F6-A709-BB19-6FF0DAF24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Agile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E6110-D9B9-E4BC-01D0-7430F0A96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5054400" cy="296615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Iterative approach</a:t>
            </a:r>
          </a:p>
          <a:p>
            <a:r>
              <a:rPr lang="en-IN" dirty="0"/>
              <a:t>Flexible requirements</a:t>
            </a:r>
          </a:p>
          <a:p>
            <a:r>
              <a:rPr lang="en-IN" dirty="0"/>
              <a:t>Changes are easy</a:t>
            </a:r>
          </a:p>
          <a:p>
            <a:r>
              <a:rPr lang="en-IN" dirty="0"/>
              <a:t>Continuous cycles</a:t>
            </a:r>
          </a:p>
          <a:p>
            <a:r>
              <a:rPr lang="en-IN" dirty="0"/>
              <a:t>High customer involvement</a:t>
            </a:r>
          </a:p>
          <a:p>
            <a:r>
              <a:rPr lang="en-IN" dirty="0"/>
              <a:t>Best for dynamic projects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988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5DF6E8-9CA2-8057-9E14-78B72B07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When to Use </a:t>
            </a:r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Waterfall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EB5FFA-2F67-A996-1E1D-CE69C1065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Requirements are fixed </a:t>
            </a:r>
          </a:p>
          <a:p>
            <a:r>
              <a:rPr lang="en-US" sz="3600" dirty="0"/>
              <a:t>Small changes expected </a:t>
            </a:r>
          </a:p>
          <a:p>
            <a:r>
              <a:rPr lang="en-US" sz="3600" dirty="0"/>
              <a:t>Clear project scope </a:t>
            </a:r>
          </a:p>
          <a:p>
            <a:r>
              <a:rPr lang="en-US" sz="3600" dirty="0"/>
              <a:t>Construction or manufacturing projects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35247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A3DD6-84A4-54FF-EC39-6764F079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When to Use </a:t>
            </a:r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0A8BC-FB39-F670-E911-74D053144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Requirements change frequently </a:t>
            </a:r>
          </a:p>
          <a:p>
            <a:r>
              <a:rPr lang="en-US" sz="3600" dirty="0"/>
              <a:t>Fast product delivery needed </a:t>
            </a:r>
          </a:p>
          <a:p>
            <a:r>
              <a:rPr lang="en-US" sz="3600" dirty="0"/>
              <a:t>Software and IT projects </a:t>
            </a:r>
          </a:p>
          <a:p>
            <a:r>
              <a:rPr lang="en-US" sz="3600" dirty="0"/>
              <a:t>Customer feedback is important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49025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86D6-2ED9-4855-F247-ECECFF17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/>
                </a:solidFill>
              </a:rPr>
              <a:t>Stakeholder</a:t>
            </a:r>
            <a:r>
              <a:rPr lang="en-IN" b="1" dirty="0"/>
              <a:t>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0D42B-79AA-F020-0DD0-C41AD1990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What is Stakeholder Management?</a:t>
            </a:r>
          </a:p>
          <a:p>
            <a:pPr>
              <a:buFontTx/>
              <a:buChar char="-"/>
            </a:pPr>
            <a:r>
              <a:rPr lang="en-US" dirty="0"/>
              <a:t>the process by which you organize, monitor, and improve your relationships with your stakeholders.</a:t>
            </a:r>
          </a:p>
          <a:p>
            <a:r>
              <a:rPr lang="en-US" b="1" dirty="0"/>
              <a:t>What’s a Stakeholder?</a:t>
            </a:r>
          </a:p>
          <a:p>
            <a:pPr>
              <a:buFontTx/>
              <a:buChar char="-"/>
            </a:pPr>
            <a:r>
              <a:rPr lang="en-US" dirty="0"/>
              <a:t>Stakeholder refers to any people or groups who are impacted by a project, initiative, policy or organization.</a:t>
            </a:r>
          </a:p>
          <a:p>
            <a:pPr>
              <a:buFontTx/>
              <a:buChar char="-"/>
            </a:pPr>
            <a:r>
              <a:rPr lang="en-US" b="1" dirty="0"/>
              <a:t>Examples - </a:t>
            </a:r>
            <a:r>
              <a:rPr lang="en-US" dirty="0"/>
              <a:t>Customers , Employees , Managers , Investors etc.</a:t>
            </a:r>
          </a:p>
          <a:p>
            <a:pPr>
              <a:buFontTx/>
              <a:buChar char="-"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512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B0A0-358B-B43D-CD33-1BCDFA9E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</a:t>
            </a:r>
            <a:r>
              <a:rPr lang="en-IN" b="1" dirty="0">
                <a:solidFill>
                  <a:schemeClr val="accent4"/>
                </a:solidFill>
              </a:rPr>
              <a:t>Stakeholder</a:t>
            </a:r>
            <a:r>
              <a:rPr lang="en-IN" b="1" dirty="0"/>
              <a:t>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CE37D-D917-F8FC-AC67-8C6DD62F5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Helps run projects successfully </a:t>
            </a:r>
          </a:p>
          <a:p>
            <a:r>
              <a:rPr lang="en-US" dirty="0"/>
              <a:t>Builds and maintains strong relationships with stakeholders </a:t>
            </a:r>
          </a:p>
          <a:p>
            <a:r>
              <a:rPr lang="en-US" dirty="0"/>
              <a:t>Supports effective stakeholder engagement strategies </a:t>
            </a:r>
          </a:p>
          <a:p>
            <a:r>
              <a:rPr lang="en-US" dirty="0"/>
              <a:t>Helps organizations meet legal and privacy obligations </a:t>
            </a:r>
          </a:p>
          <a:p>
            <a:r>
              <a:rPr lang="en-US" dirty="0"/>
              <a:t>Manages stakeholder expectations efficiently </a:t>
            </a:r>
          </a:p>
          <a:p>
            <a:r>
              <a:rPr lang="en-US" dirty="0"/>
              <a:t>Identifies, reduces, and avoids project risks </a:t>
            </a:r>
          </a:p>
          <a:p>
            <a:r>
              <a:rPr lang="en-US" dirty="0"/>
              <a:t>Helps gain social license and public trust </a:t>
            </a:r>
          </a:p>
          <a:p>
            <a:r>
              <a:rPr lang="en-US" dirty="0"/>
              <a:t>Builds social capital and stronger networks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5612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8903-5EB4-2D43-D4A0-E3DDEB7D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</a:t>
            </a:r>
            <a:r>
              <a:rPr lang="en-IN" b="1" dirty="0">
                <a:solidFill>
                  <a:schemeClr val="accent4"/>
                </a:solidFill>
              </a:rPr>
              <a:t>Stakeholder</a:t>
            </a:r>
            <a:r>
              <a:rPr lang="en-IN" b="1" dirty="0"/>
              <a:t>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7004-15D6-4B9D-1982-53C75A8E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Improves organizational reputation and transparency </a:t>
            </a:r>
          </a:p>
          <a:p>
            <a:r>
              <a:rPr lang="en-US" dirty="0"/>
              <a:t>Provides better business intelligence and insights </a:t>
            </a:r>
          </a:p>
          <a:p>
            <a:r>
              <a:rPr lang="en-US" dirty="0"/>
              <a:t>Aligns stakeholder interests with business goals </a:t>
            </a:r>
          </a:p>
          <a:p>
            <a:r>
              <a:rPr lang="en-US" dirty="0"/>
              <a:t>Increases stakeholder support and cooperation </a:t>
            </a:r>
          </a:p>
          <a:p>
            <a:r>
              <a:rPr lang="en-US" dirty="0"/>
              <a:t>Reduces project delays through better communication </a:t>
            </a:r>
          </a:p>
          <a:p>
            <a:r>
              <a:rPr lang="en-US" dirty="0"/>
              <a:t>Supports sustainable decision-making </a:t>
            </a:r>
          </a:p>
          <a:p>
            <a:r>
              <a:rPr lang="en-US" dirty="0"/>
              <a:t>Strengthens corporate governance practices </a:t>
            </a:r>
          </a:p>
          <a:p>
            <a:r>
              <a:rPr lang="en-US" dirty="0"/>
              <a:t>Creates competitive advantage through better stakeholder understanding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600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182A-3F9C-63C6-E97E-F89738BE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Raw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3DA0C-F1E1-72A5-B0C3-69D0E4B03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What is Raw Data?</a:t>
            </a:r>
          </a:p>
          <a:p>
            <a:pPr>
              <a:buFontTx/>
              <a:buChar char="-"/>
            </a:pPr>
            <a:r>
              <a:rPr lang="en-US" dirty="0"/>
              <a:t>Raw data is unprocessed data, the original information collected directly from various sources before any manipulation, cleaning, or analysis takes place.</a:t>
            </a:r>
            <a:endParaRPr lang="en-IN" dirty="0"/>
          </a:p>
          <a:p>
            <a:r>
              <a:rPr lang="en-US" b="1" dirty="0"/>
              <a:t>Examples - </a:t>
            </a:r>
            <a:r>
              <a:rPr lang="en-US" dirty="0"/>
              <a:t>Survey responses , Transaction logs , Sensor data , Social media posts and comments 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42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429FE-4EE5-814B-94C9-B91185512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Characteristics of Raw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D016-45EC-1D66-964C-638284D2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Unfiltered and unaltered</a:t>
            </a:r>
          </a:p>
          <a:p>
            <a:r>
              <a:rPr lang="en-US" sz="3200" dirty="0"/>
              <a:t>Available in varied formats </a:t>
            </a:r>
          </a:p>
          <a:p>
            <a:r>
              <a:rPr lang="en-US" sz="3200" dirty="0"/>
              <a:t>Large volume of information </a:t>
            </a:r>
          </a:p>
          <a:p>
            <a:r>
              <a:rPr lang="en-US" sz="3200" dirty="0"/>
              <a:t>May contain errors or duplicates </a:t>
            </a:r>
          </a:p>
          <a:p>
            <a:r>
              <a:rPr lang="en-US" sz="3200" dirty="0"/>
              <a:t>Difficult to analyze directly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25873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3FD4-A172-9DA1-D984-A572A104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Processed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C229-80A8-62BF-5607-CC6FCDC0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540" y="2556932"/>
            <a:ext cx="10378440" cy="3638128"/>
          </a:xfrm>
        </p:spPr>
        <p:txBody>
          <a:bodyPr>
            <a:normAutofit fontScale="77500" lnSpcReduction="20000"/>
          </a:bodyPr>
          <a:lstStyle/>
          <a:p>
            <a:r>
              <a:rPr lang="en-IN" sz="3200" b="1" dirty="0"/>
              <a:t>What is Processed Data?</a:t>
            </a:r>
          </a:p>
          <a:p>
            <a:pPr>
              <a:buFontTx/>
              <a:buChar char="-"/>
            </a:pPr>
            <a:r>
              <a:rPr lang="en-US" sz="3100" dirty="0"/>
              <a:t>Processed data is raw data that has been cleaned, organized, transformed, and analyzed to make it useful.</a:t>
            </a:r>
          </a:p>
          <a:p>
            <a:r>
              <a:rPr lang="en-US" sz="3200" b="1" dirty="0"/>
              <a:t>Data Processing Steps - </a:t>
            </a:r>
          </a:p>
          <a:p>
            <a:pPr>
              <a:buFontTx/>
              <a:buChar char="-"/>
            </a:pPr>
            <a:r>
              <a:rPr lang="en-US" sz="3100" dirty="0"/>
              <a:t>Data Cleaning </a:t>
            </a:r>
          </a:p>
          <a:p>
            <a:pPr>
              <a:buFontTx/>
              <a:buChar char="-"/>
            </a:pPr>
            <a:r>
              <a:rPr lang="en-US" sz="3100" dirty="0"/>
              <a:t>Data Transformation </a:t>
            </a:r>
          </a:p>
          <a:p>
            <a:pPr>
              <a:buFontTx/>
              <a:buChar char="-"/>
            </a:pPr>
            <a:r>
              <a:rPr lang="en-US" sz="3100" dirty="0"/>
              <a:t>Data Aggregation </a:t>
            </a:r>
          </a:p>
          <a:p>
            <a:pPr>
              <a:buFontTx/>
              <a:buChar char="-"/>
            </a:pPr>
            <a:r>
              <a:rPr lang="en-US" sz="3100" dirty="0"/>
              <a:t>Data Analysis</a:t>
            </a:r>
          </a:p>
          <a:p>
            <a:pPr>
              <a:buFontTx/>
              <a:buChar char="-"/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95470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35BB-CA84-0594-6EE1-6A8A3F61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Characteristics of Processed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ADEEA-4930-A158-B352-A3D8E6A75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Cleaned and organized </a:t>
            </a:r>
          </a:p>
          <a:p>
            <a:r>
              <a:rPr lang="en-US" sz="3200" dirty="0"/>
              <a:t>Structured format </a:t>
            </a:r>
          </a:p>
          <a:p>
            <a:r>
              <a:rPr lang="en-US" sz="3200" dirty="0"/>
              <a:t>Easy to analyze </a:t>
            </a:r>
          </a:p>
          <a:p>
            <a:r>
              <a:rPr lang="en-US" sz="3200" dirty="0"/>
              <a:t>Informative and meaningful </a:t>
            </a:r>
          </a:p>
          <a:p>
            <a:r>
              <a:rPr lang="en-US" sz="3200" dirty="0"/>
              <a:t>Includes summarized information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273917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E93A-D81C-4DFA-7E6B-1D410887C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Examples of Processed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70FCC-AA3A-ED1B-C2B4-164FF12F3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Monthly sales reports </a:t>
            </a:r>
          </a:p>
          <a:p>
            <a:r>
              <a:rPr lang="en-US" sz="3200" dirty="0"/>
              <a:t>Customer behavior analysis </a:t>
            </a:r>
          </a:p>
          <a:p>
            <a:r>
              <a:rPr lang="en-US" sz="3200" dirty="0"/>
              <a:t>Performance dashboards </a:t>
            </a:r>
          </a:p>
          <a:p>
            <a:r>
              <a:rPr lang="en-US" sz="3200" dirty="0"/>
              <a:t>Business intelligence reports </a:t>
            </a:r>
          </a:p>
          <a:p>
            <a:r>
              <a:rPr lang="en-US" sz="3200" dirty="0"/>
              <a:t>Statistical summaries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204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2BD6-DC45-3F1E-68A4-43391CA8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Raw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IN" b="1" dirty="0"/>
              <a:t> vs Processed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CA517-B9F8-989E-58EF-71F9565ED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Raw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76558-8F99-2C55-D534-98F49D3E6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8603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Original information</a:t>
            </a:r>
          </a:p>
          <a:p>
            <a:r>
              <a:rPr lang="en-US" dirty="0"/>
              <a:t>Unorganized</a:t>
            </a:r>
          </a:p>
          <a:p>
            <a:r>
              <a:rPr lang="en-US" dirty="0"/>
              <a:t>Contains errors</a:t>
            </a:r>
          </a:p>
          <a:p>
            <a:r>
              <a:rPr lang="en-US" dirty="0"/>
              <a:t>Difficult to analyze</a:t>
            </a:r>
          </a:p>
          <a:p>
            <a:r>
              <a:rPr lang="en-US" dirty="0"/>
              <a:t>Large volume</a:t>
            </a:r>
          </a:p>
          <a:p>
            <a:r>
              <a:rPr lang="en-US" dirty="0"/>
              <a:t>No direct insights	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5FCE18-C9D3-BF9E-6443-4C6DE191F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Processed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7E385F-AD09-9A91-F217-C7A5311FA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8603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Refined information</a:t>
            </a:r>
          </a:p>
          <a:p>
            <a:r>
              <a:rPr lang="en-US" dirty="0"/>
              <a:t>Organized</a:t>
            </a:r>
          </a:p>
          <a:p>
            <a:r>
              <a:rPr lang="en-US" dirty="0"/>
              <a:t>Clean and accurate</a:t>
            </a:r>
          </a:p>
          <a:p>
            <a:r>
              <a:rPr lang="en-US" dirty="0"/>
              <a:t>Easy to analyze</a:t>
            </a:r>
          </a:p>
          <a:p>
            <a:r>
              <a:rPr lang="en-US" dirty="0"/>
              <a:t>Reduced and manageable</a:t>
            </a:r>
          </a:p>
          <a:p>
            <a:r>
              <a:rPr lang="en-US" dirty="0"/>
              <a:t>Provides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201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C227-C7DB-F76E-85FA-18C4097B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Role of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Information</a:t>
            </a:r>
            <a:r>
              <a:rPr lang="en-US" b="1" dirty="0"/>
              <a:t> in Decision Making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EDD31-17DC-B338-63A5-44B6AC173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Information Helps To:</a:t>
            </a:r>
          </a:p>
          <a:p>
            <a:pPr>
              <a:buFontTx/>
              <a:buChar char="-"/>
            </a:pPr>
            <a:r>
              <a:rPr lang="en-US" dirty="0"/>
              <a:t>Assess alternatives </a:t>
            </a:r>
          </a:p>
          <a:p>
            <a:pPr>
              <a:buFontTx/>
              <a:buChar char="-"/>
            </a:pPr>
            <a:r>
              <a:rPr lang="en-US" dirty="0"/>
              <a:t>Predict outcomes </a:t>
            </a:r>
          </a:p>
          <a:p>
            <a:pPr>
              <a:buFontTx/>
              <a:buChar char="-"/>
            </a:pPr>
            <a:r>
              <a:rPr lang="en-US" dirty="0"/>
              <a:t>Understand market conditions </a:t>
            </a:r>
          </a:p>
          <a:p>
            <a:pPr>
              <a:buFontTx/>
              <a:buChar char="-"/>
            </a:pPr>
            <a:r>
              <a:rPr lang="en-US" dirty="0"/>
              <a:t>Reduce uncertainty </a:t>
            </a:r>
          </a:p>
          <a:p>
            <a:pPr>
              <a:buFontTx/>
              <a:buChar char="-"/>
            </a:pPr>
            <a:r>
              <a:rPr lang="en-US" dirty="0"/>
              <a:t>Improve planning and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1081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E03D-2E35-0186-90DB-A5548C90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Importance of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Information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E98CB-4706-5DC1-2733-AF428C374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Information helps allocate resources efficiently</a:t>
            </a:r>
          </a:p>
          <a:p>
            <a:r>
              <a:rPr lang="en-US" dirty="0"/>
              <a:t>Informed decisions allow for better risk assessment and management.</a:t>
            </a:r>
          </a:p>
          <a:p>
            <a:r>
              <a:rPr lang="en-US" dirty="0"/>
              <a:t>Helps firms understand - Consumer preferences, Market trends, Competitor activities</a:t>
            </a:r>
          </a:p>
          <a:p>
            <a:r>
              <a:rPr lang="en-US" dirty="0"/>
              <a:t>Governments rely on information to formulate effective economic policies.</a:t>
            </a:r>
          </a:p>
          <a:p>
            <a:r>
              <a:rPr lang="en-US" dirty="0"/>
              <a:t>Investors use information about financial markets, interest rates, and company performance to make informed investment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108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E069-2961-E3C7-CE81-7BEDF1F0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in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Information</a:t>
            </a:r>
            <a:r>
              <a:rPr lang="en-IN" b="1" dirty="0"/>
              <a:t> Gathering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2043C-D64F-5F24-D661-6607FCD1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Information Costs</a:t>
            </a:r>
          </a:p>
          <a:p>
            <a:pPr>
              <a:buFontTx/>
              <a:buChar char="-"/>
            </a:pPr>
            <a:r>
              <a:rPr lang="en-US" sz="2800" dirty="0"/>
              <a:t>Collecting and processing information can be expensive. </a:t>
            </a:r>
          </a:p>
          <a:p>
            <a:r>
              <a:rPr lang="en-US" sz="3200" b="1" dirty="0"/>
              <a:t>Incomplete Information</a:t>
            </a:r>
          </a:p>
          <a:p>
            <a:pPr>
              <a:buFontTx/>
              <a:buChar char="-"/>
            </a:pPr>
            <a:r>
              <a:rPr lang="en-US" sz="2800" dirty="0"/>
              <a:t>Decision-makers may not have full information. </a:t>
            </a:r>
          </a:p>
          <a:p>
            <a:pPr>
              <a:buFontTx/>
              <a:buChar char="-"/>
            </a:pPr>
            <a:r>
              <a:rPr lang="en-US" sz="2800" dirty="0"/>
              <a:t>Creates uncertainty and difficulty in making optimal choices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05994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3B7C-D551-269C-1719-610152A5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Asymmetric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Information</a:t>
            </a:r>
            <a:r>
              <a:rPr lang="en-IN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D0401-CC10-5A4D-019D-6D66B9FB9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4400" dirty="0"/>
              <a:t>A situation where one party has more or better information than another in a transaction.</a:t>
            </a:r>
          </a:p>
        </p:txBody>
      </p:sp>
    </p:spTree>
    <p:extLst>
      <p:ext uri="{BB962C8B-B14F-4D97-AF65-F5344CB8AC3E}">
        <p14:creationId xmlns:p14="http://schemas.microsoft.com/office/powerpoint/2010/main" val="11575567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7BD5-ED94-15AE-4E21-3C6096DD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Effects of Asymmetric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34EF-57EE-2B23-89F4-98E1952BA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Market failure </a:t>
            </a:r>
          </a:p>
          <a:p>
            <a:r>
              <a:rPr lang="en-US" sz="3600" dirty="0"/>
              <a:t>Adverse selection </a:t>
            </a:r>
          </a:p>
          <a:p>
            <a:r>
              <a:rPr lang="en-US" sz="3600" dirty="0"/>
              <a:t>Moral hazard </a:t>
            </a:r>
          </a:p>
          <a:p>
            <a:r>
              <a:rPr lang="en-US" sz="3600" dirty="0"/>
              <a:t>Inefficient resource allocation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83166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7E1B-6004-B4E7-3C76-FDFEDCB9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Market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D8F5C-B4AC-E9E8-D7CF-FEDD36413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46688"/>
          </a:xfrm>
        </p:spPr>
        <p:txBody>
          <a:bodyPr>
            <a:normAutofit/>
          </a:bodyPr>
          <a:lstStyle/>
          <a:p>
            <a:r>
              <a:rPr lang="en-US" sz="2800" b="1" dirty="0"/>
              <a:t>Definition -</a:t>
            </a:r>
          </a:p>
          <a:p>
            <a:pPr>
              <a:buFontTx/>
              <a:buChar char="-"/>
            </a:pPr>
            <a:r>
              <a:rPr lang="en-US" dirty="0"/>
              <a:t>Failure of markets to allocate resources efficiently. </a:t>
            </a:r>
          </a:p>
          <a:p>
            <a:r>
              <a:rPr lang="en-US" sz="2800" b="1" dirty="0"/>
              <a:t>Cause –</a:t>
            </a:r>
          </a:p>
          <a:p>
            <a:pPr>
              <a:buFontTx/>
              <a:buChar char="-"/>
            </a:pPr>
            <a:r>
              <a:rPr lang="en-US" dirty="0"/>
              <a:t>Unequal access to information </a:t>
            </a:r>
          </a:p>
          <a:p>
            <a:r>
              <a:rPr lang="en-US" sz="2800" b="1" dirty="0"/>
              <a:t>Example -</a:t>
            </a:r>
          </a:p>
          <a:p>
            <a:pPr>
              <a:buFontTx/>
              <a:buChar char="-"/>
            </a:pPr>
            <a:r>
              <a:rPr lang="en-US" dirty="0"/>
              <a:t>Insurance markets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292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F9C6-0FDD-5183-95ED-75987BB6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Adverse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C7E5A-D0C8-6FD7-F460-1ED2E03C6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/>
              <a:t>Definition -</a:t>
            </a:r>
          </a:p>
          <a:p>
            <a:pPr>
              <a:buFontTx/>
              <a:buChar char="-"/>
            </a:pPr>
            <a:r>
              <a:rPr lang="en-US" dirty="0"/>
              <a:t>High-risk individuals are more likely to participate in transactions.. </a:t>
            </a:r>
          </a:p>
          <a:p>
            <a:r>
              <a:rPr lang="en-US" sz="2800" b="1" dirty="0"/>
              <a:t>Result -</a:t>
            </a:r>
          </a:p>
          <a:p>
            <a:pPr>
              <a:buFontTx/>
              <a:buChar char="-"/>
            </a:pPr>
            <a:r>
              <a:rPr lang="en-US" sz="2800" dirty="0"/>
              <a:t>Increased costs and inefficiency</a:t>
            </a:r>
          </a:p>
          <a:p>
            <a:r>
              <a:rPr lang="en-US" sz="2800" b="1" dirty="0"/>
              <a:t>Example -</a:t>
            </a:r>
          </a:p>
          <a:p>
            <a:pPr>
              <a:buFontTx/>
              <a:buChar char="-"/>
            </a:pPr>
            <a:r>
              <a:rPr lang="en-US" dirty="0"/>
              <a:t>Health insurance:</a:t>
            </a:r>
          </a:p>
          <a:p>
            <a:pPr>
              <a:buFontTx/>
              <a:buChar char="-"/>
            </a:pPr>
            <a:r>
              <a:rPr lang="en-US" dirty="0"/>
              <a:t>People with higher health risks buy more insurance.</a:t>
            </a:r>
          </a:p>
        </p:txBody>
      </p:sp>
    </p:spTree>
    <p:extLst>
      <p:ext uri="{BB962C8B-B14F-4D97-AF65-F5344CB8AC3E}">
        <p14:creationId xmlns:p14="http://schemas.microsoft.com/office/powerpoint/2010/main" val="1042927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49C1-49E4-D614-6BAF-A1AA6FF5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Moral Hazard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529-E005-1A7C-F862-44EB0838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Definition -</a:t>
            </a:r>
          </a:p>
          <a:p>
            <a:pPr>
              <a:buFontTx/>
              <a:buChar char="-"/>
            </a:pPr>
            <a:r>
              <a:rPr lang="en-US" dirty="0"/>
              <a:t>Change in behavior after entering an agreement because actions cannot be monitored.. </a:t>
            </a:r>
            <a:endParaRPr lang="en-US" sz="2800" dirty="0"/>
          </a:p>
          <a:p>
            <a:r>
              <a:rPr lang="en-US" sz="2800" b="1" dirty="0"/>
              <a:t>Example -</a:t>
            </a:r>
          </a:p>
          <a:p>
            <a:pPr>
              <a:buFontTx/>
              <a:buChar char="-"/>
            </a:pPr>
            <a:r>
              <a:rPr lang="en-US" dirty="0"/>
              <a:t>Insurance fraud </a:t>
            </a:r>
          </a:p>
          <a:p>
            <a:pPr>
              <a:buFontTx/>
              <a:buChar char="-"/>
            </a:pPr>
            <a:r>
              <a:rPr lang="en-US" dirty="0"/>
              <a:t>Risky financial behavior after receiving loans.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737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15AA-DF19-7EEF-8222-3A0A5A5A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Reducing Asymmetric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AC7A1-0164-BA7B-C969-979C30F02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Screening</a:t>
            </a:r>
          </a:p>
          <a:p>
            <a:pPr>
              <a:buFontTx/>
              <a:buChar char="-"/>
            </a:pPr>
            <a:r>
              <a:rPr lang="en-US" dirty="0"/>
              <a:t>Separating high-risk and low-risk individuals </a:t>
            </a:r>
          </a:p>
          <a:p>
            <a:r>
              <a:rPr lang="en-US" sz="2800" b="1" dirty="0"/>
              <a:t>Signaling</a:t>
            </a:r>
          </a:p>
          <a:p>
            <a:pPr>
              <a:buFontTx/>
              <a:buChar char="-"/>
            </a:pPr>
            <a:r>
              <a:rPr lang="en-US" dirty="0"/>
              <a:t>Sharing private information to build trust </a:t>
            </a:r>
          </a:p>
          <a:p>
            <a:r>
              <a:rPr lang="en-US" sz="2800" b="1" dirty="0"/>
              <a:t>Regulation and Disclosure</a:t>
            </a:r>
          </a:p>
          <a:p>
            <a:pPr>
              <a:buFontTx/>
              <a:buChar char="-"/>
            </a:pPr>
            <a:r>
              <a:rPr lang="en-US" dirty="0"/>
              <a:t>Government rules ensure transparency and fairness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8594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7B5F-297A-6EA4-5079-55593BC4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Driven Decision Making (</a:t>
            </a:r>
            <a:r>
              <a:rPr lang="en-US" b="1" dirty="0">
                <a:solidFill>
                  <a:srgbClr val="5D0B57"/>
                </a:solidFill>
              </a:rPr>
              <a:t>DDDM</a:t>
            </a:r>
            <a:r>
              <a:rPr lang="en-US" b="1" dirty="0"/>
              <a:t>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3D9D7-0066-2C43-F277-13E6FDE62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 is Data Driven Decision Making (DDDM)?</a:t>
            </a:r>
          </a:p>
          <a:p>
            <a:pPr>
              <a:buFontTx/>
              <a:buChar char="-"/>
            </a:pPr>
            <a:r>
              <a:rPr lang="en-US" b="1" dirty="0"/>
              <a:t>Data-Driven Decision Making (DDDM)</a:t>
            </a:r>
            <a:r>
              <a:rPr lang="en-US" dirty="0"/>
              <a:t> is the process of making decisions based on </a:t>
            </a:r>
            <a:r>
              <a:rPr lang="en-US" b="1" dirty="0"/>
              <a:t>data analysis, facts, and evidence</a:t>
            </a:r>
            <a:r>
              <a:rPr lang="en-US" dirty="0"/>
              <a:t> rather than intuition, guesswork, or personal opinion.</a:t>
            </a:r>
          </a:p>
          <a:p>
            <a:r>
              <a:rPr lang="en-IN" b="1" dirty="0"/>
              <a:t>Why make </a:t>
            </a:r>
            <a:r>
              <a:rPr lang="en-US" b="1" dirty="0"/>
              <a:t>Data Driven Decision Making ?</a:t>
            </a:r>
          </a:p>
          <a:p>
            <a:pPr>
              <a:buFontTx/>
              <a:buChar char="-"/>
            </a:pPr>
            <a:r>
              <a:rPr lang="en-US" b="1" dirty="0"/>
              <a:t>Data-driven decision making </a:t>
            </a:r>
            <a:r>
              <a:rPr lang="en-US" dirty="0"/>
              <a:t>is superior to other forms of decision making because it ensures that decisions are based on logic and reasoning as well as supported by numerical evidence.</a:t>
            </a:r>
          </a:p>
        </p:txBody>
      </p:sp>
    </p:spTree>
    <p:extLst>
      <p:ext uri="{BB962C8B-B14F-4D97-AF65-F5344CB8AC3E}">
        <p14:creationId xmlns:p14="http://schemas.microsoft.com/office/powerpoint/2010/main" val="17465750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D312-A903-DE5F-DE95-5A7E38AE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 of </a:t>
            </a:r>
            <a:r>
              <a:rPr lang="en-US" b="1" dirty="0">
                <a:solidFill>
                  <a:srgbClr val="5D0B57"/>
                </a:solidFill>
              </a:rPr>
              <a:t>DDDM</a:t>
            </a:r>
            <a:endParaRPr lang="en-IN" b="1" dirty="0">
              <a:solidFill>
                <a:srgbClr val="5D0B5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E6E4F-6EED-9473-DA14-95F898E7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/>
              <a:t>Objective:</a:t>
            </a:r>
            <a:r>
              <a:rPr lang="en-US" sz="3200" dirty="0"/>
              <a:t> Based on facts and data, not assumptions. </a:t>
            </a:r>
          </a:p>
          <a:p>
            <a:r>
              <a:rPr lang="en-US" sz="3200" b="1" dirty="0"/>
              <a:t>Easy to Evaluate:</a:t>
            </a:r>
            <a:r>
              <a:rPr lang="en-US" sz="3200" dirty="0"/>
              <a:t> Results can be measured using metrics. </a:t>
            </a:r>
          </a:p>
          <a:p>
            <a:r>
              <a:rPr lang="en-US" sz="3200" b="1" dirty="0"/>
              <a:t>Greater Control:</a:t>
            </a:r>
            <a:r>
              <a:rPr lang="en-US" sz="3200" dirty="0"/>
              <a:t> Helps improve decision quality and business direction. </a:t>
            </a:r>
          </a:p>
          <a:p>
            <a:r>
              <a:rPr lang="en-US" sz="3200" b="1" dirty="0"/>
              <a:t>Increases Agility:</a:t>
            </a:r>
            <a:r>
              <a:rPr lang="en-US" sz="3200" dirty="0"/>
              <a:t> Enables faster response to opportunities and market changes.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94837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4E87-B87B-3B7F-E7B9-A1297DB7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</a:t>
            </a:r>
            <a:r>
              <a:rPr lang="en-US" b="1" dirty="0">
                <a:solidFill>
                  <a:srgbClr val="5D0B57"/>
                </a:solidFill>
              </a:rPr>
              <a:t>DDDM</a:t>
            </a:r>
            <a:endParaRPr lang="en-IN" dirty="0">
              <a:solidFill>
                <a:srgbClr val="5D0B5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F489F-3BB1-240E-0B67-61A57E203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b="1" dirty="0"/>
              <a:t>Transparency &amp; Accountability:</a:t>
            </a:r>
            <a:r>
              <a:rPr lang="en-US" sz="3200" dirty="0"/>
              <a:t> Decisions are clear and measurable. </a:t>
            </a:r>
          </a:p>
          <a:p>
            <a:r>
              <a:rPr lang="en-US" sz="3200" b="1" dirty="0"/>
              <a:t>Improves Performance:</a:t>
            </a:r>
            <a:r>
              <a:rPr lang="en-US" sz="3200" dirty="0"/>
              <a:t> Enhances operations, sales, and customer service. </a:t>
            </a:r>
          </a:p>
          <a:p>
            <a:r>
              <a:rPr lang="en-US" sz="3200" b="1" dirty="0"/>
              <a:t>Supports Growth:</a:t>
            </a:r>
            <a:r>
              <a:rPr lang="en-US" sz="3200" dirty="0"/>
              <a:t> Helps identify trends and new opportunities. </a:t>
            </a:r>
          </a:p>
          <a:p>
            <a:r>
              <a:rPr lang="en-US" sz="3200" b="1" dirty="0"/>
              <a:t>Versatile:</a:t>
            </a:r>
            <a:r>
              <a:rPr lang="en-US" sz="3200" dirty="0"/>
              <a:t> Can be used in all areas of business.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68135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4F55-0EDE-8D2C-BBF6-CE9652D7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Steps to Implement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US" b="1" dirty="0"/>
              <a:t>-Driven Approach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7E2A6-80E6-BDD1-9356-A0A1B0ECD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56932"/>
            <a:ext cx="10424160" cy="3615268"/>
          </a:xfrm>
        </p:spPr>
        <p:txBody>
          <a:bodyPr>
            <a:normAutofit fontScale="62500" lnSpcReduction="20000"/>
          </a:bodyPr>
          <a:lstStyle/>
          <a:p>
            <a:r>
              <a:rPr lang="en-US" sz="3800" b="1" dirty="0"/>
              <a:t>Define the Goal - </a:t>
            </a:r>
            <a:r>
              <a:rPr lang="en-US" sz="3800" dirty="0"/>
              <a:t>Identify what you want to achieve, such as higher sales or better customer service. </a:t>
            </a:r>
          </a:p>
          <a:p>
            <a:r>
              <a:rPr lang="en-US" sz="3800" b="1" dirty="0"/>
              <a:t>Establish a Hypothesis - </a:t>
            </a:r>
            <a:r>
              <a:rPr lang="en-US" sz="3800" dirty="0"/>
              <a:t>Create a possible solution or strategy to achieve the goal. </a:t>
            </a:r>
          </a:p>
          <a:p>
            <a:r>
              <a:rPr lang="en-US" sz="3800" b="1" dirty="0"/>
              <a:t>Identify Data Needs - </a:t>
            </a:r>
            <a:r>
              <a:rPr lang="en-US" sz="3800" dirty="0"/>
              <a:t>Decide what type of data is required — qualitative or quantitative. </a:t>
            </a:r>
          </a:p>
          <a:p>
            <a:r>
              <a:rPr lang="en-US" sz="3800" b="1" dirty="0"/>
              <a:t>Build a Data Process - </a:t>
            </a:r>
            <a:r>
              <a:rPr lang="en-US" sz="3800" dirty="0"/>
              <a:t>Collect, manage, and organize data from reliable sources. </a:t>
            </a:r>
          </a:p>
          <a:p>
            <a:r>
              <a:rPr lang="en-US" sz="3800" b="1" dirty="0"/>
              <a:t>Analyze the Data - </a:t>
            </a:r>
            <a:r>
              <a:rPr lang="en-US" sz="3800" dirty="0"/>
              <a:t>Study the data using tools or experts to find useful insights.</a:t>
            </a:r>
          </a:p>
          <a:p>
            <a:r>
              <a:rPr lang="en-US" sz="3800" b="1" dirty="0"/>
              <a:t>Make a Decision - </a:t>
            </a:r>
            <a:r>
              <a:rPr lang="en-US" sz="3800" dirty="0"/>
              <a:t>Use the insights to take informed and effective business actions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964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088D-40C8-16B2-59FD-32C8793B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Positions That Use </a:t>
            </a:r>
            <a:r>
              <a:rPr lang="en-US" b="1" dirty="0">
                <a:solidFill>
                  <a:srgbClr val="5D0B57"/>
                </a:solidFill>
              </a:rPr>
              <a:t>DDDM</a:t>
            </a:r>
            <a:endParaRPr lang="en-IN" b="1" dirty="0">
              <a:solidFill>
                <a:srgbClr val="5D0B5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4EE33-90D2-A06B-6C1E-17F7ECC95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 Analyst</a:t>
            </a:r>
          </a:p>
          <a:p>
            <a:r>
              <a:rPr lang="en-US" sz="3200" b="1" dirty="0"/>
              <a:t>Data Engineer</a:t>
            </a:r>
            <a:r>
              <a:rPr lang="en-US" sz="3200" dirty="0"/>
              <a:t> </a:t>
            </a:r>
          </a:p>
          <a:p>
            <a:r>
              <a:rPr lang="en-US" sz="3200" b="1" dirty="0"/>
              <a:t>Database Administrator</a:t>
            </a:r>
            <a:r>
              <a:rPr lang="en-US" sz="3200" dirty="0"/>
              <a:t> </a:t>
            </a:r>
          </a:p>
          <a:p>
            <a:r>
              <a:rPr lang="en-US" sz="3200" b="1" dirty="0"/>
              <a:t>Business Analyst</a:t>
            </a:r>
            <a:r>
              <a:rPr lang="en-US" sz="3200" dirty="0"/>
              <a:t> </a:t>
            </a:r>
          </a:p>
          <a:p>
            <a:r>
              <a:rPr lang="en-US" sz="3200" b="1" dirty="0"/>
              <a:t>Data Scientist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942157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86C2-00EA-038B-067B-E56F4068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Common Problems </a:t>
            </a:r>
            <a:r>
              <a:rPr lang="en-US" b="1" dirty="0">
                <a:solidFill>
                  <a:srgbClr val="5D0B57"/>
                </a:solidFill>
              </a:rPr>
              <a:t>DDDM</a:t>
            </a:r>
            <a:endParaRPr lang="en-IN" dirty="0">
              <a:solidFill>
                <a:srgbClr val="5D0B5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8BDFC-931A-DE9C-F6E7-6548A4EC7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/>
              <a:t>Bad Data - </a:t>
            </a:r>
            <a:r>
              <a:rPr lang="en-US" sz="2800" dirty="0"/>
              <a:t>Poor-quality or irrelevant data leads to inaccurate decisions. </a:t>
            </a:r>
          </a:p>
          <a:p>
            <a:r>
              <a:rPr lang="en-US" sz="2800" b="1" dirty="0"/>
              <a:t>Weak Analysis - </a:t>
            </a:r>
            <a:r>
              <a:rPr lang="en-US" sz="2800" dirty="0"/>
              <a:t>Incorrect or shallow analysis can produce misleading insights. </a:t>
            </a:r>
          </a:p>
          <a:p>
            <a:r>
              <a:rPr lang="en-US" sz="2800" b="1" dirty="0"/>
              <a:t>Flawed Recommendations - </a:t>
            </a:r>
            <a:r>
              <a:rPr lang="en-US" sz="2800" dirty="0"/>
              <a:t>Good analysis without proper business solutions reduces effectiveness. </a:t>
            </a:r>
          </a:p>
          <a:p>
            <a:r>
              <a:rPr lang="en-US" sz="2800" b="1" dirty="0"/>
              <a:t>Poor Communication - </a:t>
            </a:r>
            <a:r>
              <a:rPr lang="en-US" sz="2800" dirty="0"/>
              <a:t>Insights must be explained clearly to avoid confusion or misunderstanding.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54645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9EA8-09EF-DDEC-7468-08639646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Problems </a:t>
            </a:r>
            <a:r>
              <a:rPr lang="en-US" b="1" dirty="0">
                <a:solidFill>
                  <a:srgbClr val="5D0B57"/>
                </a:solidFill>
              </a:rPr>
              <a:t>DDDM</a:t>
            </a:r>
            <a:endParaRPr lang="en-IN" dirty="0">
              <a:solidFill>
                <a:srgbClr val="5D0B5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3FA3D-144B-4637-DF51-3A3797C5D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/>
              <a:t>Bad Interpretation - </a:t>
            </a:r>
            <a:r>
              <a:rPr lang="en-US" sz="2800" dirty="0"/>
              <a:t>Decision-makers may misunderstand data due to low data literacy. </a:t>
            </a:r>
          </a:p>
          <a:p>
            <a:r>
              <a:rPr lang="en-US" sz="2800" b="1" dirty="0"/>
              <a:t>Wrong Decision - </a:t>
            </a:r>
            <a:r>
              <a:rPr lang="en-US" sz="2800" dirty="0"/>
              <a:t>Biases or personal interests may cause rejection of data-backed solutions. </a:t>
            </a:r>
          </a:p>
          <a:p>
            <a:r>
              <a:rPr lang="en-US" sz="2800" b="1" dirty="0"/>
              <a:t>Faulty Execution - </a:t>
            </a:r>
            <a:r>
              <a:rPr lang="en-US" sz="2800" dirty="0"/>
              <a:t>Even good decisions fail if implemented poorly. </a:t>
            </a:r>
          </a:p>
          <a:p>
            <a:r>
              <a:rPr lang="en-US" sz="2800" b="1" dirty="0"/>
              <a:t>No Learning - </a:t>
            </a:r>
            <a:r>
              <a:rPr lang="en-US" sz="2800" dirty="0"/>
              <a:t>Organizations must review results and learn from past decisions to improve future performance.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40371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8403C-82D9-8BD5-12B1-9AC50499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IN" b="1" dirty="0"/>
              <a:t>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2396-D6EA-4C67-E5C5-37A1B4998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What is Data Governance?</a:t>
            </a:r>
          </a:p>
          <a:p>
            <a:pPr>
              <a:buFontTx/>
              <a:buChar char="-"/>
            </a:pPr>
            <a:r>
              <a:rPr lang="en-US" sz="3200" dirty="0"/>
              <a:t>Data governance is the process of managing, protecting, and controlling data throughout its life cycle. It ensures that data is accurate, secure, private, and used properly within an organization.</a:t>
            </a:r>
          </a:p>
        </p:txBody>
      </p:sp>
    </p:spTree>
    <p:extLst>
      <p:ext uri="{BB962C8B-B14F-4D97-AF65-F5344CB8AC3E}">
        <p14:creationId xmlns:p14="http://schemas.microsoft.com/office/powerpoint/2010/main" val="29983144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F1D3-263F-0133-196B-1C1DC0BC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IN" b="1" dirty="0"/>
              <a:t> Governance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E051-8594-68F8-467A-7B25047D9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Organizes and manages high-quality data </a:t>
            </a:r>
          </a:p>
          <a:p>
            <a:r>
              <a:rPr lang="en-US" sz="3600" dirty="0"/>
              <a:t>Helps users discover and understand data </a:t>
            </a:r>
          </a:p>
          <a:p>
            <a:r>
              <a:rPr lang="en-US" sz="3600" dirty="0"/>
              <a:t>Balances privacy, access, and protection </a:t>
            </a:r>
          </a:p>
          <a:p>
            <a:r>
              <a:rPr lang="en-US" sz="3600" dirty="0"/>
              <a:t>Controls risks and supports compliance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600766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8C49-14A6-4745-1B58-EA608943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Importance of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IN" b="1" dirty="0"/>
              <a:t>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B98F6-1B5E-2164-7058-D81939BF0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Ensures high-quality and reliable data </a:t>
            </a:r>
          </a:p>
          <a:p>
            <a:r>
              <a:rPr lang="en-US" sz="3200" dirty="0"/>
              <a:t>Protects sensitive information </a:t>
            </a:r>
          </a:p>
          <a:p>
            <a:r>
              <a:rPr lang="en-US" sz="3200" dirty="0"/>
              <a:t>Supports AI and data analytics </a:t>
            </a:r>
          </a:p>
          <a:p>
            <a:r>
              <a:rPr lang="en-US" sz="3200" dirty="0"/>
              <a:t>Helps follow regulations like GDPR and CCPA </a:t>
            </a:r>
          </a:p>
          <a:p>
            <a:r>
              <a:rPr lang="en-US" sz="3200" dirty="0"/>
              <a:t>Improves data accessibility and security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79304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AF2B-B3EE-0EA2-8F71-62D59F85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US" b="1" dirty="0"/>
              <a:t> Governance Policies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983B-934B-74E5-7817-AE1FD49F1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556932"/>
            <a:ext cx="10264140" cy="3569548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/>
              <a:t>1. Data Governance Structure Policy</a:t>
            </a:r>
          </a:p>
          <a:p>
            <a:pPr>
              <a:buFontTx/>
              <a:buChar char="-"/>
            </a:pPr>
            <a:r>
              <a:rPr lang="en-US" sz="3200" dirty="0"/>
              <a:t>Defines how data governance is organized in the company. It assigns roles and responsibilities to leaders, committees, data stewards, administrators, and users to manage data effectively and securely.</a:t>
            </a:r>
          </a:p>
          <a:p>
            <a:r>
              <a:rPr lang="en-US" sz="3200" b="1" dirty="0"/>
              <a:t>2. Data Access Policy</a:t>
            </a:r>
          </a:p>
          <a:p>
            <a:pPr>
              <a:buFontTx/>
              <a:buChar char="-"/>
            </a:pPr>
            <a:r>
              <a:rPr lang="en-US" sz="3200" dirty="0"/>
              <a:t>Ensures that only authorized employees can access company data according to security levels and job requirements.</a:t>
            </a:r>
          </a:p>
        </p:txBody>
      </p:sp>
    </p:spTree>
    <p:extLst>
      <p:ext uri="{BB962C8B-B14F-4D97-AF65-F5344CB8AC3E}">
        <p14:creationId xmlns:p14="http://schemas.microsoft.com/office/powerpoint/2010/main" val="41585605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D830-EB30-76CF-0640-8148E42D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US" b="1" dirty="0"/>
              <a:t> Governance Policies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8FA17-F629-E254-853B-1D5ABBE47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540" y="2556932"/>
            <a:ext cx="10424160" cy="3615268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3. Data Usage Policy</a:t>
            </a:r>
          </a:p>
          <a:p>
            <a:pPr>
              <a:buFontTx/>
              <a:buChar char="-"/>
            </a:pPr>
            <a:r>
              <a:rPr lang="en-US" sz="3200" dirty="0"/>
              <a:t>Explains how data should be used ethically and legally. Employees must use data only for official work purposes and according to assigned permissions.</a:t>
            </a:r>
          </a:p>
          <a:p>
            <a:r>
              <a:rPr lang="en-US" sz="3200" b="1" dirty="0"/>
              <a:t>4. Data Integrity and Integration Policy</a:t>
            </a:r>
          </a:p>
          <a:p>
            <a:pPr>
              <a:buFontTx/>
              <a:buChar char="-"/>
            </a:pPr>
            <a:r>
              <a:rPr lang="en-US" sz="3200" dirty="0"/>
              <a:t>Ensures that data is accurate, reliable, consistent, and can be integrated across systems for reporting and decision-making.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176357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A9E2-D5A9-E464-D36B-17C7A72E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Steps to Create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US" b="1" dirty="0"/>
              <a:t> Governance Policy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29F5-FC26-B408-8F97-1306865E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9240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Define purpose and scope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 governance structure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policies and standards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Assign roles and responsibilities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Develop data management procedures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Provide training and awareness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Monitor and review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5622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320A-99D5-9F4E-256E-A62C6551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IN" b="1" dirty="0"/>
              <a:t>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11331-CD3E-18D0-5F1B-19C2C278B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Faster AI-driven insights </a:t>
            </a:r>
          </a:p>
          <a:p>
            <a:r>
              <a:rPr lang="en-US" sz="3200" dirty="0"/>
              <a:t>Better cost control </a:t>
            </a:r>
          </a:p>
          <a:p>
            <a:r>
              <a:rPr lang="en-US" sz="3200" dirty="0"/>
              <a:t>Improved regulatory compliance </a:t>
            </a:r>
          </a:p>
          <a:p>
            <a:r>
              <a:rPr lang="en-US" sz="3200" dirty="0"/>
              <a:t>Easy and secure data access </a:t>
            </a:r>
          </a:p>
          <a:p>
            <a:r>
              <a:rPr lang="en-US" sz="3200" dirty="0"/>
              <a:t>Real-time risk and security management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538651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AA8A0-DE71-E5F0-E453-A0EAED39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Uses of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IN" b="1" dirty="0"/>
              <a:t>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13CE-3E22-04F7-88C3-053698B1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b="1" dirty="0"/>
              <a:t>Data Stewardship:</a:t>
            </a:r>
            <a:r>
              <a:rPr lang="en-US" sz="3600" dirty="0"/>
              <a:t> Assigns responsibility for managing data </a:t>
            </a:r>
          </a:p>
          <a:p>
            <a:r>
              <a:rPr lang="en-US" sz="3600" b="1" dirty="0"/>
              <a:t>Data Quality:</a:t>
            </a:r>
            <a:r>
              <a:rPr lang="en-US" sz="3600" dirty="0"/>
              <a:t> Maintains accuracy, consistency, and completeness </a:t>
            </a:r>
          </a:p>
          <a:p>
            <a:r>
              <a:rPr lang="en-US" sz="3600" b="1" dirty="0"/>
              <a:t>Data Management:</a:t>
            </a:r>
            <a:r>
              <a:rPr lang="en-US" sz="3600" dirty="0"/>
              <a:t> Controls collection, storage, usage, and disposal of data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508510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B3AF-5713-68C6-BEEB-5CAA79EC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C8C17-2936-9B69-A576-321C100E0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3600" b="1" dirty="0"/>
              <a:t>What is Data Ethics?</a:t>
            </a:r>
          </a:p>
          <a:p>
            <a:pPr>
              <a:buFontTx/>
              <a:buChar char="-"/>
            </a:pPr>
            <a:r>
              <a:rPr lang="en-US" sz="3600" dirty="0"/>
              <a:t>Data ethics refers to the moral principles and guidelines that govern how organizations collect, store, protect, share, and use data.</a:t>
            </a:r>
          </a:p>
          <a:p>
            <a:pPr>
              <a:buFontTx/>
              <a:buChar char="-"/>
            </a:pPr>
            <a:r>
              <a:rPr lang="en-US" sz="3600" dirty="0"/>
              <a:t>It focuses on ensuring that data is handled responsibly, fairly, legally, and with respect for privacy and individual rights.</a:t>
            </a:r>
          </a:p>
          <a:p>
            <a:pPr marL="0" indent="0">
              <a:buNone/>
            </a:pP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4946597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3710-2718-25F5-23BE-0C31F803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Data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Ethics</a:t>
            </a:r>
            <a:r>
              <a:rPr lang="en-IN" b="1" dirty="0"/>
              <a:t> Matters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F7F2-CF8C-E7B0-F79F-23D7E82B3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600" dirty="0"/>
              <a:t>Data ethics is important because data can be misused, leading to privacy violations, discrimination, security breaches, and unfair decisions. Ethical data practices help protect individuals and build trust in technology.</a:t>
            </a:r>
          </a:p>
        </p:txBody>
      </p:sp>
    </p:spTree>
    <p:extLst>
      <p:ext uri="{BB962C8B-B14F-4D97-AF65-F5344CB8AC3E}">
        <p14:creationId xmlns:p14="http://schemas.microsoft.com/office/powerpoint/2010/main" val="13365017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D702-3873-F6EB-492F-179D23EC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Principles of Data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F5C5-BFEE-F4A9-8515-C72287020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Transparency</a:t>
            </a:r>
            <a:r>
              <a:rPr lang="en-US" sz="2800" dirty="0"/>
              <a:t> – Clearly explain how data is collected and used. </a:t>
            </a:r>
          </a:p>
          <a:p>
            <a:r>
              <a:rPr lang="en-US" sz="2800" b="1" dirty="0"/>
              <a:t>Accountability</a:t>
            </a:r>
            <a:r>
              <a:rPr lang="en-US" sz="2800" dirty="0"/>
              <a:t> – Organizations must protect and manage data responsibly. </a:t>
            </a:r>
          </a:p>
          <a:p>
            <a:r>
              <a:rPr lang="en-US" sz="2800" b="1" dirty="0"/>
              <a:t>Individual Control</a:t>
            </a:r>
            <a:r>
              <a:rPr lang="en-US" sz="2800" dirty="0"/>
              <a:t> – Users should control their personal data. </a:t>
            </a:r>
          </a:p>
          <a:p>
            <a:r>
              <a:rPr lang="en-US" sz="2800" b="1" dirty="0"/>
              <a:t>Data Privacy</a:t>
            </a:r>
            <a:r>
              <a:rPr lang="en-US" sz="2800" dirty="0"/>
              <a:t> – Personal information must remain secure and confidential.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771736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C978-308D-C8B2-4B15-2EB4F80E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Importance of Data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87A0-794D-E634-B2C3-1996EAB38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Protects personal information and privacy </a:t>
            </a:r>
          </a:p>
          <a:p>
            <a:r>
              <a:rPr lang="en-US" sz="3200" dirty="0"/>
              <a:t>Prevents misuse of data and cybercrime </a:t>
            </a:r>
          </a:p>
          <a:p>
            <a:r>
              <a:rPr lang="en-US" sz="3200" dirty="0"/>
              <a:t>Reduces bias in AI and algorithms </a:t>
            </a:r>
          </a:p>
          <a:p>
            <a:r>
              <a:rPr lang="en-US" sz="3200" dirty="0"/>
              <a:t>Ensures fairness and transparency </a:t>
            </a:r>
          </a:p>
          <a:p>
            <a:r>
              <a:rPr lang="en-US" sz="3200" dirty="0"/>
              <a:t>Builds trust between organizations and users </a:t>
            </a:r>
          </a:p>
          <a:p>
            <a:r>
              <a:rPr lang="en-US" sz="3200" dirty="0"/>
              <a:t>Supports responsible use of technology and AI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000600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A506-2022-D5F2-BCC3-34926B7E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1E011-7278-8226-B31C-377A7245E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/>
              <a:t>British Airways (2018):</a:t>
            </a:r>
            <a:r>
              <a:rPr lang="en-US" sz="2800" dirty="0"/>
              <a:t> Customer data was stolen through a fake website. </a:t>
            </a:r>
          </a:p>
          <a:p>
            <a:r>
              <a:rPr lang="en-US" sz="2800" b="1" dirty="0"/>
              <a:t>Apple Card (2019):</a:t>
            </a:r>
            <a:r>
              <a:rPr lang="en-US" sz="2800" dirty="0"/>
              <a:t> Allegations of gender bias in credit limits. </a:t>
            </a:r>
          </a:p>
          <a:p>
            <a:r>
              <a:rPr lang="en-US" sz="2800" b="1" dirty="0"/>
              <a:t>Facebook (2021):</a:t>
            </a:r>
            <a:r>
              <a:rPr lang="en-US" sz="2800" dirty="0"/>
              <a:t> Data of over 533 million users was leaked online. </a:t>
            </a:r>
          </a:p>
          <a:p>
            <a:r>
              <a:rPr lang="en-US" sz="2800" b="1" dirty="0"/>
              <a:t>Amazon Hiring Algorithm:</a:t>
            </a:r>
            <a:r>
              <a:rPr lang="en-US" sz="2800" dirty="0"/>
              <a:t> AI showed bias against women applicants. </a:t>
            </a:r>
          </a:p>
          <a:p>
            <a:r>
              <a:rPr lang="en-US" sz="2800" b="1" dirty="0"/>
              <a:t>Uber “God-Mode”:</a:t>
            </a:r>
            <a:r>
              <a:rPr lang="en-US" sz="2800" dirty="0"/>
              <a:t> Employees improperly tracked users and celebrities.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290614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EF4A-A24E-97DE-D8C7-D04CF2AC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in Data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C2A5-A6EE-D2A1-085D-1DD40566C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AI bias and discrimination </a:t>
            </a:r>
          </a:p>
          <a:p>
            <a:r>
              <a:rPr lang="en-US" sz="3600" dirty="0"/>
              <a:t>Data breaches and hacking </a:t>
            </a:r>
          </a:p>
          <a:p>
            <a:r>
              <a:rPr lang="en-US" sz="3600" dirty="0"/>
              <a:t>Lack of privacy protection </a:t>
            </a:r>
          </a:p>
          <a:p>
            <a:r>
              <a:rPr lang="en-US" sz="3600" dirty="0"/>
              <a:t>Misuse of personal information </a:t>
            </a:r>
          </a:p>
          <a:p>
            <a:r>
              <a:rPr lang="en-US" sz="3600" dirty="0"/>
              <a:t>Weak regulations and unclear consent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876791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4C63-B163-CC64-8EC1-77F33C08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Ethics</a:t>
            </a:r>
            <a:r>
              <a:rPr lang="en-IN" b="1" dirty="0"/>
              <a:t> Regulations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3120-DE39-0B27-6ADF-F7B0000F7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GDPR</a:t>
            </a:r>
            <a:r>
              <a:rPr lang="en-IN" sz="3600" dirty="0"/>
              <a:t> (European Union) </a:t>
            </a:r>
          </a:p>
          <a:p>
            <a:r>
              <a:rPr lang="en-IN" sz="3600" b="1" dirty="0"/>
              <a:t>CCPA/CPRA</a:t>
            </a:r>
            <a:r>
              <a:rPr lang="en-IN" sz="3600" dirty="0"/>
              <a:t> (California, USA) </a:t>
            </a:r>
          </a:p>
          <a:p>
            <a:r>
              <a:rPr lang="en-IN" sz="3600" b="1" dirty="0"/>
              <a:t>EU AI Act</a:t>
            </a:r>
            <a:r>
              <a:rPr lang="en-IN" sz="3600" dirty="0"/>
              <a:t> </a:t>
            </a:r>
          </a:p>
          <a:p>
            <a:r>
              <a:rPr lang="en-IN" sz="3600" b="1" dirty="0"/>
              <a:t>Digital Services Act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798036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5405-9691-D5E6-A63A-0278E309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Anonymised and Pseudonymised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7123-F972-B5A4-769E-495003C5D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46688"/>
          </a:xfrm>
        </p:spPr>
        <p:txBody>
          <a:bodyPr>
            <a:normAutofit lnSpcReduction="10000"/>
          </a:bodyPr>
          <a:lstStyle/>
          <a:p>
            <a:r>
              <a:rPr lang="en-US" sz="3200" b="1" dirty="0" err="1"/>
              <a:t>Anonymisation</a:t>
            </a:r>
            <a:r>
              <a:rPr lang="en-US" sz="3200" b="1" dirty="0"/>
              <a:t> –</a:t>
            </a:r>
            <a:r>
              <a:rPr lang="en-US" sz="2800" b="1" dirty="0"/>
              <a:t> </a:t>
            </a:r>
          </a:p>
          <a:p>
            <a:pPr>
              <a:buFontTx/>
              <a:buChar char="-"/>
            </a:pPr>
            <a:r>
              <a:rPr lang="en-US" sz="2800" dirty="0"/>
              <a:t>Removes personal identifiers completely. </a:t>
            </a:r>
          </a:p>
          <a:p>
            <a:pPr>
              <a:buFontTx/>
              <a:buChar char="-"/>
            </a:pPr>
            <a:r>
              <a:rPr lang="en-US" sz="2800" dirty="0"/>
              <a:t>Individuals cannot be re-identified. </a:t>
            </a:r>
          </a:p>
          <a:p>
            <a:r>
              <a:rPr lang="en-US" sz="3200" b="1" dirty="0" err="1"/>
              <a:t>Pseudonymisation</a:t>
            </a:r>
            <a:r>
              <a:rPr lang="en-US" sz="3200" b="1" dirty="0"/>
              <a:t> -</a:t>
            </a:r>
          </a:p>
          <a:p>
            <a:pPr>
              <a:buFontTx/>
              <a:buChar char="-"/>
            </a:pPr>
            <a:r>
              <a:rPr lang="en-US" sz="2800" dirty="0"/>
              <a:t>Replaces identifiers with codes or keys. </a:t>
            </a:r>
          </a:p>
          <a:p>
            <a:pPr>
              <a:buFontTx/>
              <a:buChar char="-"/>
            </a:pPr>
            <a:r>
              <a:rPr lang="en-US" sz="2800" dirty="0"/>
              <a:t>Re-identification is possible only with additional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87975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5B7D-6A53-0181-A0A2-4A33CDE3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CCPA</a:t>
            </a:r>
            <a:r>
              <a:rPr lang="en-IN" b="1" dirty="0"/>
              <a:t> and </a:t>
            </a: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GDPR</a:t>
            </a:r>
            <a:r>
              <a:rPr lang="en-IN" b="1" dirty="0"/>
              <a:t> –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BFEF-FD17-B2FE-FAF9-3D71730BF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/>
              <a:t>What is CCPA?</a:t>
            </a:r>
          </a:p>
          <a:p>
            <a:pPr>
              <a:buFontTx/>
              <a:buChar char="-"/>
            </a:pPr>
            <a:r>
              <a:rPr lang="en-US" sz="3200" dirty="0"/>
              <a:t>The </a:t>
            </a:r>
            <a:r>
              <a:rPr lang="en-US" sz="3200" b="1" dirty="0"/>
              <a:t>California Consumer Privacy Act (CCPA)</a:t>
            </a:r>
            <a:r>
              <a:rPr lang="en-US" sz="3200" dirty="0"/>
              <a:t> is a data privacy law in California that gives residents control over their personal information. It applies to businesses that collect or process the data of California residents.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5361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FB0B-D0DC-A5B6-1E3D-61411899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CCPA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67685-D2FB-8F24-7D51-CDF85260E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dirty="0"/>
              <a:t>Rights Provided Under CCPA –</a:t>
            </a:r>
          </a:p>
          <a:p>
            <a:pPr>
              <a:buFontTx/>
              <a:buChar char="-"/>
            </a:pPr>
            <a:r>
              <a:rPr lang="en-US" sz="2800" dirty="0"/>
              <a:t>Right to know what data is collected </a:t>
            </a:r>
          </a:p>
          <a:p>
            <a:pPr>
              <a:buFontTx/>
              <a:buChar char="-"/>
            </a:pPr>
            <a:r>
              <a:rPr lang="en-US" sz="2800" dirty="0"/>
              <a:t>Right to access personal information </a:t>
            </a:r>
          </a:p>
          <a:p>
            <a:pPr>
              <a:buFontTx/>
              <a:buChar char="-"/>
            </a:pPr>
            <a:r>
              <a:rPr lang="en-US" sz="2800" dirty="0"/>
              <a:t>Right to delete personal information </a:t>
            </a:r>
          </a:p>
          <a:p>
            <a:pPr>
              <a:buFontTx/>
              <a:buChar char="-"/>
            </a:pPr>
            <a:r>
              <a:rPr lang="en-US" sz="2800" dirty="0"/>
              <a:t>Right to opt out of data selling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982803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4E45-4A4E-9FE4-8D37-B8D2FC10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CCPA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170EC-C05A-04D9-7A5D-4D4D483DF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Main Features of CCPA </a:t>
            </a:r>
            <a:r>
              <a:rPr lang="en-US" b="1" dirty="0"/>
              <a:t>-</a:t>
            </a:r>
          </a:p>
          <a:p>
            <a:pPr>
              <a:buFontTx/>
              <a:buChar char="-"/>
            </a:pPr>
            <a:r>
              <a:rPr lang="en-US" sz="2800" dirty="0"/>
              <a:t>Greater transparency in data practices </a:t>
            </a:r>
          </a:p>
          <a:p>
            <a:pPr>
              <a:buFontTx/>
              <a:buChar char="-"/>
            </a:pPr>
            <a:r>
              <a:rPr lang="en-US" sz="2800" dirty="0"/>
              <a:t>Consumer access to personal information </a:t>
            </a:r>
          </a:p>
          <a:p>
            <a:pPr>
              <a:buFontTx/>
              <a:buChar char="-"/>
            </a:pPr>
            <a:r>
              <a:rPr lang="en-US" sz="2800" dirty="0"/>
              <a:t>Option to stop sale of personal data </a:t>
            </a:r>
          </a:p>
          <a:p>
            <a:pPr>
              <a:buFontTx/>
              <a:buChar char="-"/>
            </a:pPr>
            <a:r>
              <a:rPr lang="en-US" sz="2800" dirty="0"/>
              <a:t>Restrictions on collection, sharing, and selling of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2222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A63D-67B2-F9EF-AD6F-E0548C80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CCPA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7B85-BA9B-ACFF-B2C5-04E26F2E8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Applicability of CCPA -</a:t>
            </a:r>
          </a:p>
          <a:p>
            <a:pPr>
              <a:buFontTx/>
              <a:buChar char="-"/>
            </a:pPr>
            <a:r>
              <a:rPr lang="en-US" sz="2800" dirty="0"/>
              <a:t>CCPA applies to businesses that:</a:t>
            </a:r>
          </a:p>
          <a:p>
            <a:pPr>
              <a:buFontTx/>
              <a:buChar char="-"/>
            </a:pPr>
            <a:r>
              <a:rPr lang="en-US" sz="2800" dirty="0"/>
              <a:t>Earn over $25 million annually </a:t>
            </a:r>
          </a:p>
          <a:p>
            <a:pPr>
              <a:buFontTx/>
              <a:buChar char="-"/>
            </a:pPr>
            <a:r>
              <a:rPr lang="en-US" sz="2800" dirty="0"/>
              <a:t>Handle data of more than 50,000 users </a:t>
            </a:r>
          </a:p>
          <a:p>
            <a:pPr>
              <a:buFontTx/>
              <a:buChar char="-"/>
            </a:pPr>
            <a:r>
              <a:rPr lang="en-US" sz="2800" dirty="0"/>
              <a:t>Generate 50% or more revenue from selling user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7063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D8EA1-52FD-E3E3-9A56-DE301B5A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GDPR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8E732-D0F1-F274-960A-3054647A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What is GDPR?</a:t>
            </a:r>
          </a:p>
          <a:p>
            <a:pPr>
              <a:buFontTx/>
              <a:buChar char="-"/>
            </a:pPr>
            <a:r>
              <a:rPr lang="en-US" sz="3200" dirty="0"/>
              <a:t>The </a:t>
            </a:r>
            <a:r>
              <a:rPr lang="en-US" sz="3200" b="1" dirty="0"/>
              <a:t>General Data Protection Regulation (GDPR)</a:t>
            </a:r>
            <a:r>
              <a:rPr lang="en-US" sz="3200" dirty="0"/>
              <a:t> is a European Union data protection law effective since May 2018. It regulates how organizations collect, process, and store personal data of people in the EU and EEA.</a:t>
            </a:r>
          </a:p>
        </p:txBody>
      </p:sp>
    </p:spTree>
    <p:extLst>
      <p:ext uri="{BB962C8B-B14F-4D97-AF65-F5344CB8AC3E}">
        <p14:creationId xmlns:p14="http://schemas.microsoft.com/office/powerpoint/2010/main" val="21887766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65E8-8727-DC19-E248-17986C77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GDPR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64D4-C60D-0C83-7965-43F97F482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/>
              <a:t>Main Principles of GDPR </a:t>
            </a:r>
            <a:r>
              <a:rPr lang="en-US" sz="2800" b="1" dirty="0"/>
              <a:t>-</a:t>
            </a:r>
          </a:p>
          <a:p>
            <a:r>
              <a:rPr lang="en-US" sz="2800" dirty="0"/>
              <a:t>Consent </a:t>
            </a:r>
          </a:p>
          <a:p>
            <a:r>
              <a:rPr lang="en-US" sz="2800" dirty="0"/>
              <a:t>Transparency </a:t>
            </a:r>
          </a:p>
          <a:p>
            <a:r>
              <a:rPr lang="en-US" sz="2800" dirty="0"/>
              <a:t>Accountability </a:t>
            </a:r>
          </a:p>
          <a:p>
            <a:r>
              <a:rPr lang="en-US" sz="2800" dirty="0"/>
              <a:t>Data protection </a:t>
            </a:r>
          </a:p>
          <a:p>
            <a:r>
              <a:rPr lang="en-US" sz="2800" dirty="0"/>
              <a:t>Privacy rights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2373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8C62-F5FC-5C3D-228F-9FF3B108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GDPR</a:t>
            </a:r>
            <a:r>
              <a:rPr lang="en-IN" b="1" dirty="0"/>
              <a:t> VS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CCPA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E90846F-33FB-13A9-87F3-CF3B21BCBE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983828"/>
              </p:ext>
            </p:extLst>
          </p:nvPr>
        </p:nvGraphicFramePr>
        <p:xfrm>
          <a:off x="883920" y="2285999"/>
          <a:ext cx="10424159" cy="388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>
                  <a:extLst>
                    <a:ext uri="{9D8B030D-6E8A-4147-A177-3AD203B41FA5}">
                      <a16:colId xmlns:a16="http://schemas.microsoft.com/office/drawing/2014/main" val="704159798"/>
                    </a:ext>
                  </a:extLst>
                </a:gridCol>
                <a:gridCol w="4046220">
                  <a:extLst>
                    <a:ext uri="{9D8B030D-6E8A-4147-A177-3AD203B41FA5}">
                      <a16:colId xmlns:a16="http://schemas.microsoft.com/office/drawing/2014/main" val="2226037193"/>
                    </a:ext>
                  </a:extLst>
                </a:gridCol>
                <a:gridCol w="4343399">
                  <a:extLst>
                    <a:ext uri="{9D8B030D-6E8A-4147-A177-3AD203B41FA5}">
                      <a16:colId xmlns:a16="http://schemas.microsoft.com/office/drawing/2014/main" val="399555795"/>
                    </a:ext>
                  </a:extLst>
                </a:gridCol>
              </a:tblGrid>
              <a:tr h="585379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ASPECT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GDPR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CCPA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42062"/>
                  </a:ext>
                </a:extLst>
              </a:tr>
              <a:tr h="519657">
                <a:tc>
                  <a:txBody>
                    <a:bodyPr/>
                    <a:lstStyle/>
                    <a:p>
                      <a:r>
                        <a:rPr lang="en-IN" sz="2000" dirty="0"/>
                        <a:t>Region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European Union (EU/EEA)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California,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346303"/>
                  </a:ext>
                </a:extLst>
              </a:tr>
              <a:tr h="519657">
                <a:tc>
                  <a:txBody>
                    <a:bodyPr/>
                    <a:lstStyle/>
                    <a:p>
                      <a:r>
                        <a:rPr lang="en-IN" sz="2000" dirty="0"/>
                        <a:t>Consent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Opt-in consent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Opt-out consent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383927"/>
                  </a:ext>
                </a:extLst>
              </a:tr>
              <a:tr h="519657">
                <a:tc>
                  <a:txBody>
                    <a:bodyPr/>
                    <a:lstStyle/>
                    <a:p>
                      <a:r>
                        <a:rPr lang="en-IN" sz="2000" dirty="0"/>
                        <a:t>Data 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All personal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Personal information of California residents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29590"/>
                  </a:ext>
                </a:extLst>
              </a:tr>
              <a:tr h="519657">
                <a:tc>
                  <a:txBody>
                    <a:bodyPr/>
                    <a:lstStyle/>
                    <a:p>
                      <a:r>
                        <a:rPr lang="en-IN" sz="2000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Any organization processing EU data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Businesses meeting specific thresholds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473572"/>
                  </a:ext>
                </a:extLst>
              </a:tr>
              <a:tr h="519657">
                <a:tc>
                  <a:txBody>
                    <a:bodyPr/>
                    <a:lstStyle/>
                    <a:p>
                      <a:r>
                        <a:rPr lang="en-IN" sz="2000" dirty="0"/>
                        <a:t>User Rights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Stronger control and erasure rights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Rights to access and opt out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744406"/>
                  </a:ext>
                </a:extLst>
              </a:tr>
              <a:tr h="519657">
                <a:tc>
                  <a:txBody>
                    <a:bodyPr/>
                    <a:lstStyle/>
                    <a:p>
                      <a:r>
                        <a:rPr lang="en-IN" sz="2000" dirty="0"/>
                        <a:t>Penalties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Very high global fines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Lower fixed fines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442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5580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D4FB-CF1A-5F3E-6301-30FDA51A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Similarities Between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GDPR</a:t>
            </a:r>
            <a:r>
              <a:rPr lang="en-US" b="1" dirty="0"/>
              <a:t> and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CCPA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E5F2-7FCF-8B34-3B33-D5BAC6E5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dirty="0"/>
              <a:t>Both laws:</a:t>
            </a:r>
          </a:p>
          <a:p>
            <a:r>
              <a:rPr lang="en-US" sz="4000" dirty="0"/>
              <a:t>Protect user privacy </a:t>
            </a:r>
          </a:p>
          <a:p>
            <a:r>
              <a:rPr lang="en-US" sz="4000" dirty="0"/>
              <a:t>Give users control over personal data </a:t>
            </a:r>
          </a:p>
          <a:p>
            <a:r>
              <a:rPr lang="en-US" sz="4000" dirty="0"/>
              <a:t>Require transparency </a:t>
            </a:r>
          </a:p>
          <a:p>
            <a:r>
              <a:rPr lang="en-US" sz="4000" dirty="0"/>
              <a:t>Allow users to access and delete data </a:t>
            </a:r>
          </a:p>
          <a:p>
            <a:r>
              <a:rPr lang="en-US" sz="4000" dirty="0"/>
              <a:t>Apply extraterritorially </a:t>
            </a:r>
          </a:p>
          <a:p>
            <a:r>
              <a:rPr lang="en-US" sz="4000" dirty="0"/>
              <a:t>Define penalties for non-compliance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9464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8B7D-B606-528A-20D6-2E3AE98A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Responsible Data Practices: </a:t>
            </a:r>
            <a:br>
              <a:rPr lang="en-US" b="1" dirty="0"/>
            </a:br>
            <a:r>
              <a:rPr lang="en-US" b="1" dirty="0"/>
              <a:t>From Compliance to Culture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409F-4B91-B5F5-5EAD-A7299EBA7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 today’s digital world, data is one of the most valuable assets for organizations. However, simply complying with regulations is not enough. Organizations must move beyond compliance and create a culture of responsible data practices where ethical handling of data becomes a core organizational value.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61728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1148</TotalTime>
  <Words>3594</Words>
  <Application>Microsoft Office PowerPoint</Application>
  <PresentationFormat>Widescreen</PresentationFormat>
  <Paragraphs>535</Paragraphs>
  <Slides>79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5" baseType="lpstr">
      <vt:lpstr>Arial</vt:lpstr>
      <vt:lpstr>Calibri</vt:lpstr>
      <vt:lpstr>Courier New</vt:lpstr>
      <vt:lpstr>Garamond</vt:lpstr>
      <vt:lpstr>Wingdings</vt:lpstr>
      <vt:lpstr>Organic</vt:lpstr>
      <vt:lpstr>INFORMATION TECHNOLOGY</vt:lpstr>
      <vt:lpstr>What Is Information Technology ?</vt:lpstr>
      <vt:lpstr>PowerPoint Presentation</vt:lpstr>
      <vt:lpstr>Information Technology (IT): Hardware vs Software   Hardware and software work together to run IT systems efficiently.</vt:lpstr>
      <vt:lpstr>Core Functions of Information Technology (IT)</vt:lpstr>
      <vt:lpstr>Enterprise Resource Planning (ERP) </vt:lpstr>
      <vt:lpstr>How ERP Platform Works   These platforms are maintained by the provider, with client companies accessing the software through a subscription or service-based model.</vt:lpstr>
      <vt:lpstr>Types of ERP Systems</vt:lpstr>
      <vt:lpstr>Benefits of ERP</vt:lpstr>
      <vt:lpstr>ERP Weaknesses</vt:lpstr>
      <vt:lpstr>ERP vs CRM</vt:lpstr>
      <vt:lpstr>ERP Examples</vt:lpstr>
      <vt:lpstr>What Is Data ?</vt:lpstr>
      <vt:lpstr> Types of Data</vt:lpstr>
      <vt:lpstr>Sources of Data</vt:lpstr>
      <vt:lpstr>Internal Data</vt:lpstr>
      <vt:lpstr>Third-Party Analytics</vt:lpstr>
      <vt:lpstr>External Data</vt:lpstr>
      <vt:lpstr>Open Data</vt:lpstr>
      <vt:lpstr>Who is a Business Analyst?</vt:lpstr>
      <vt:lpstr>Core Business Analytics Skills</vt:lpstr>
      <vt:lpstr>Technical Skills for Business Analytics</vt:lpstr>
      <vt:lpstr>Types of Analytics</vt:lpstr>
      <vt:lpstr>Business Analysis Methodologies</vt:lpstr>
      <vt:lpstr>Pros &amp; Cons of Waterfall</vt:lpstr>
      <vt:lpstr>Pros &amp; Cons of Agile</vt:lpstr>
      <vt:lpstr>Agile vs Waterfall</vt:lpstr>
      <vt:lpstr>When to Use Waterfall</vt:lpstr>
      <vt:lpstr>When to Use Agile</vt:lpstr>
      <vt:lpstr>Stakeholder Management</vt:lpstr>
      <vt:lpstr>Benefits of Stakeholder Management</vt:lpstr>
      <vt:lpstr>Benefits of Stakeholder Management</vt:lpstr>
      <vt:lpstr>Raw Data</vt:lpstr>
      <vt:lpstr>Characteristics of Raw Data</vt:lpstr>
      <vt:lpstr>Processed Data</vt:lpstr>
      <vt:lpstr>Characteristics of Processed Data</vt:lpstr>
      <vt:lpstr>Examples of Processed Data</vt:lpstr>
      <vt:lpstr>Raw Data vs Processed Data</vt:lpstr>
      <vt:lpstr>Role of Information in Decision Making</vt:lpstr>
      <vt:lpstr>Importance of Information</vt:lpstr>
      <vt:lpstr>Challenges in Information Gathering</vt:lpstr>
      <vt:lpstr>What is Asymmetric Information?</vt:lpstr>
      <vt:lpstr>Effects of Asymmetric Information</vt:lpstr>
      <vt:lpstr>Market Failure</vt:lpstr>
      <vt:lpstr>Adverse Selection</vt:lpstr>
      <vt:lpstr>Moral Hazard</vt:lpstr>
      <vt:lpstr>Reducing Asymmetric Information</vt:lpstr>
      <vt:lpstr>Data Driven Decision Making (DDDM) </vt:lpstr>
      <vt:lpstr>Benefits of DDDM</vt:lpstr>
      <vt:lpstr>Benefits of DDDM</vt:lpstr>
      <vt:lpstr>Steps to Implement a Data-Driven Approach</vt:lpstr>
      <vt:lpstr>Positions That Use DDDM</vt:lpstr>
      <vt:lpstr>Common Problems DDDM</vt:lpstr>
      <vt:lpstr>Common Problems DDDM</vt:lpstr>
      <vt:lpstr>Data Governance</vt:lpstr>
      <vt:lpstr>How Data Governance Works</vt:lpstr>
      <vt:lpstr>Importance of Data Governance</vt:lpstr>
      <vt:lpstr>Types of Data Governance Policies</vt:lpstr>
      <vt:lpstr>Types of Data Governance Policies</vt:lpstr>
      <vt:lpstr>Steps to Create a Data Governance Policy</vt:lpstr>
      <vt:lpstr>Benefits of Data Governance</vt:lpstr>
      <vt:lpstr>Uses of Data Governance</vt:lpstr>
      <vt:lpstr>Data Ethics</vt:lpstr>
      <vt:lpstr>Why Data Ethics Matters ?</vt:lpstr>
      <vt:lpstr>Principles of Data Ethics</vt:lpstr>
      <vt:lpstr>Importance of Data Ethics</vt:lpstr>
      <vt:lpstr>Real-World Examples</vt:lpstr>
      <vt:lpstr>Challenges in Data Ethics</vt:lpstr>
      <vt:lpstr>Data Ethics Regulations</vt:lpstr>
      <vt:lpstr>Anonymised and Pseudonymised Data</vt:lpstr>
      <vt:lpstr>CCPA and GDPR – Introduction</vt:lpstr>
      <vt:lpstr>CCPA</vt:lpstr>
      <vt:lpstr>CCPA</vt:lpstr>
      <vt:lpstr>CCPA</vt:lpstr>
      <vt:lpstr>GDPR</vt:lpstr>
      <vt:lpstr>GDPR</vt:lpstr>
      <vt:lpstr>GDPR VS CCPA</vt:lpstr>
      <vt:lpstr>Similarities Between GDPR and CCPA</vt:lpstr>
      <vt:lpstr>Responsible Data Practices:  From Compliance to Culture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Arup Kundu</dc:creator>
  <cp:lastModifiedBy>Tanishqua Roy</cp:lastModifiedBy>
  <cp:revision>11</cp:revision>
  <dcterms:created xsi:type="dcterms:W3CDTF">2026-05-06T14:46:27Z</dcterms:created>
  <dcterms:modified xsi:type="dcterms:W3CDTF">2026-05-11T05:04:16Z</dcterms:modified>
</cp:coreProperties>
</file>